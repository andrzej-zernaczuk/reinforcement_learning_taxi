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Lst>
  <p:notesMasterIdLst>
    <p:notesMasterId r:id="rId37"/>
  </p:notesMasterIdLst>
  <p:sldIdLst>
    <p:sldId id="256" r:id="rId3"/>
    <p:sldId id="264" r:id="rId4"/>
    <p:sldId id="272" r:id="rId5"/>
    <p:sldId id="268" r:id="rId6"/>
    <p:sldId id="265" r:id="rId7"/>
    <p:sldId id="291" r:id="rId8"/>
    <p:sldId id="292" r:id="rId9"/>
    <p:sldId id="293" r:id="rId10"/>
    <p:sldId id="294" r:id="rId11"/>
    <p:sldId id="295" r:id="rId12"/>
    <p:sldId id="296" r:id="rId13"/>
    <p:sldId id="297" r:id="rId14"/>
    <p:sldId id="305" r:id="rId15"/>
    <p:sldId id="299" r:id="rId16"/>
    <p:sldId id="300" r:id="rId17"/>
    <p:sldId id="301" r:id="rId18"/>
    <p:sldId id="302" r:id="rId19"/>
    <p:sldId id="303" r:id="rId20"/>
    <p:sldId id="304" r:id="rId21"/>
    <p:sldId id="308" r:id="rId22"/>
    <p:sldId id="306" r:id="rId23"/>
    <p:sldId id="307" r:id="rId24"/>
    <p:sldId id="309" r:id="rId25"/>
    <p:sldId id="313" r:id="rId26"/>
    <p:sldId id="314" r:id="rId27"/>
    <p:sldId id="311" r:id="rId28"/>
    <p:sldId id="312" r:id="rId29"/>
    <p:sldId id="315" r:id="rId30"/>
    <p:sldId id="316" r:id="rId31"/>
    <p:sldId id="317" r:id="rId32"/>
    <p:sldId id="318" r:id="rId33"/>
    <p:sldId id="319" r:id="rId34"/>
    <p:sldId id="320" r:id="rId35"/>
    <p:sldId id="321" r:id="rId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MqYXPG3odHR07W3JPyjT6FpwE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DA7048-6D07-4708-8B50-DC56079CAE9D}" v="18" dt="2022-10-17T20:16:29.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12"/>
    <p:restoredTop sz="94673"/>
  </p:normalViewPr>
  <p:slideViewPr>
    <p:cSldViewPr snapToGrid="0">
      <p:cViewPr>
        <p:scale>
          <a:sx n="149" d="100"/>
          <a:sy n="149" d="100"/>
        </p:scale>
        <p:origin x="-272" y="13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otr Radziszewski" userId="51e1a861-9e9c-4f30-8d88-60fcbb590066" providerId="ADAL" clId="{38DA7048-6D07-4708-8B50-DC56079CAE9D}"/>
    <pc:docChg chg="undo redo custSel modSld">
      <pc:chgData name="Piotr Radziszewski" userId="51e1a861-9e9c-4f30-8d88-60fcbb590066" providerId="ADAL" clId="{38DA7048-6D07-4708-8B50-DC56079CAE9D}" dt="2022-10-17T20:16:29.872" v="74" actId="1076"/>
      <pc:docMkLst>
        <pc:docMk/>
      </pc:docMkLst>
      <pc:sldChg chg="modSp mod">
        <pc:chgData name="Piotr Radziszewski" userId="51e1a861-9e9c-4f30-8d88-60fcbb590066" providerId="ADAL" clId="{38DA7048-6D07-4708-8B50-DC56079CAE9D}" dt="2022-10-17T15:35:48.676" v="18" actId="1076"/>
        <pc:sldMkLst>
          <pc:docMk/>
          <pc:sldMk cId="0" sldId="256"/>
        </pc:sldMkLst>
        <pc:spChg chg="mod">
          <ac:chgData name="Piotr Radziszewski" userId="51e1a861-9e9c-4f30-8d88-60fcbb590066" providerId="ADAL" clId="{38DA7048-6D07-4708-8B50-DC56079CAE9D}" dt="2022-10-17T15:35:48.676" v="18" actId="1076"/>
          <ac:spMkLst>
            <pc:docMk/>
            <pc:sldMk cId="0" sldId="256"/>
            <ac:spMk id="162" creationId="{00000000-0000-0000-0000-000000000000}"/>
          </ac:spMkLst>
        </pc:spChg>
      </pc:sldChg>
      <pc:sldChg chg="addSp delSp modSp mod">
        <pc:chgData name="Piotr Radziszewski" userId="51e1a861-9e9c-4f30-8d88-60fcbb590066" providerId="ADAL" clId="{38DA7048-6D07-4708-8B50-DC56079CAE9D}" dt="2022-10-17T20:16:29.872" v="74" actId="1076"/>
        <pc:sldMkLst>
          <pc:docMk/>
          <pc:sldMk cId="0" sldId="257"/>
        </pc:sldMkLst>
        <pc:spChg chg="mod">
          <ac:chgData name="Piotr Radziszewski" userId="51e1a861-9e9c-4f30-8d88-60fcbb590066" providerId="ADAL" clId="{38DA7048-6D07-4708-8B50-DC56079CAE9D}" dt="2022-10-17T20:16:25.445" v="72" actId="20577"/>
          <ac:spMkLst>
            <pc:docMk/>
            <pc:sldMk cId="0" sldId="257"/>
            <ac:spMk id="179" creationId="{00000000-0000-0000-0000-000000000000}"/>
          </ac:spMkLst>
        </pc:spChg>
        <pc:spChg chg="mod">
          <ac:chgData name="Piotr Radziszewski" userId="51e1a861-9e9c-4f30-8d88-60fcbb590066" providerId="ADAL" clId="{38DA7048-6D07-4708-8B50-DC56079CAE9D}" dt="2022-10-16T16:01:08.483" v="11" actId="179"/>
          <ac:spMkLst>
            <pc:docMk/>
            <pc:sldMk cId="0" sldId="257"/>
            <ac:spMk id="180" creationId="{00000000-0000-0000-0000-000000000000}"/>
          </ac:spMkLst>
        </pc:spChg>
        <pc:picChg chg="add del">
          <ac:chgData name="Piotr Radziszewski" userId="51e1a861-9e9c-4f30-8d88-60fcbb590066" providerId="ADAL" clId="{38DA7048-6D07-4708-8B50-DC56079CAE9D}" dt="2022-10-17T15:37:40.154" v="47" actId="478"/>
          <ac:picMkLst>
            <pc:docMk/>
            <pc:sldMk cId="0" sldId="257"/>
            <ac:picMk id="1026" creationId="{5552AC11-B575-056E-23AC-78B207883CA1}"/>
          </ac:picMkLst>
        </pc:picChg>
        <pc:picChg chg="add mod">
          <ac:chgData name="Piotr Radziszewski" userId="51e1a861-9e9c-4f30-8d88-60fcbb590066" providerId="ADAL" clId="{38DA7048-6D07-4708-8B50-DC56079CAE9D}" dt="2022-10-17T20:16:29.872" v="74" actId="1076"/>
          <ac:picMkLst>
            <pc:docMk/>
            <pc:sldMk cId="0" sldId="257"/>
            <ac:picMk id="1028" creationId="{AE421D10-DFD8-9DF2-DAC6-BE08C336D0A3}"/>
          </ac:picMkLst>
        </pc:picChg>
      </pc:sldChg>
      <pc:sldChg chg="modSp mod">
        <pc:chgData name="Piotr Radziszewski" userId="51e1a861-9e9c-4f30-8d88-60fcbb590066" providerId="ADAL" clId="{38DA7048-6D07-4708-8B50-DC56079CAE9D}" dt="2022-10-16T16:01:11.845" v="13" actId="1076"/>
        <pc:sldMkLst>
          <pc:docMk/>
          <pc:sldMk cId="0" sldId="258"/>
        </pc:sldMkLst>
        <pc:spChg chg="mod">
          <ac:chgData name="Piotr Radziszewski" userId="51e1a861-9e9c-4f30-8d88-60fcbb590066" providerId="ADAL" clId="{38DA7048-6D07-4708-8B50-DC56079CAE9D}" dt="2022-10-16T16:01:11.845" v="13" actId="1076"/>
          <ac:spMkLst>
            <pc:docMk/>
            <pc:sldMk cId="0" sldId="258"/>
            <ac:spMk id="4" creationId="{5D5CC718-F4A6-3D4B-E811-1E1BA46E69D7}"/>
          </ac:spMkLst>
        </pc:spChg>
      </pc:sldChg>
      <pc:sldChg chg="modSp mod">
        <pc:chgData name="Piotr Radziszewski" userId="51e1a861-9e9c-4f30-8d88-60fcbb590066" providerId="ADAL" clId="{38DA7048-6D07-4708-8B50-DC56079CAE9D}" dt="2022-10-17T20:12:22.217" v="71" actId="20577"/>
        <pc:sldMkLst>
          <pc:docMk/>
          <pc:sldMk cId="26866841" sldId="264"/>
        </pc:sldMkLst>
        <pc:spChg chg="mod">
          <ac:chgData name="Piotr Radziszewski" userId="51e1a861-9e9c-4f30-8d88-60fcbb590066" providerId="ADAL" clId="{38DA7048-6D07-4708-8B50-DC56079CAE9D}" dt="2022-10-17T15:39:18.352" v="62" actId="20577"/>
          <ac:spMkLst>
            <pc:docMk/>
            <pc:sldMk cId="26866841" sldId="264"/>
            <ac:spMk id="6" creationId="{83200D56-15C4-3F7E-490C-63FE089DA773}"/>
          </ac:spMkLst>
        </pc:spChg>
        <pc:spChg chg="mod">
          <ac:chgData name="Piotr Radziszewski" userId="51e1a861-9e9c-4f30-8d88-60fcbb590066" providerId="ADAL" clId="{38DA7048-6D07-4708-8B50-DC56079CAE9D}" dt="2022-10-16T16:01:42.819" v="16" actId="20577"/>
          <ac:spMkLst>
            <pc:docMk/>
            <pc:sldMk cId="26866841" sldId="264"/>
            <ac:spMk id="191" creationId="{00000000-0000-0000-0000-000000000000}"/>
          </ac:spMkLst>
        </pc:spChg>
        <pc:spChg chg="mod">
          <ac:chgData name="Piotr Radziszewski" userId="51e1a861-9e9c-4f30-8d88-60fcbb590066" providerId="ADAL" clId="{38DA7048-6D07-4708-8B50-DC56079CAE9D}" dt="2022-10-17T20:12:22.217" v="71" actId="20577"/>
          <ac:spMkLst>
            <pc:docMk/>
            <pc:sldMk cId="26866841" sldId="264"/>
            <ac:spMk id="19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377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90A5D3C9-993A-D4F0-78A2-4171B966D543}"/>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F4D1E1E-B964-09B2-C138-B6F5F542A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30B489E0-CECB-0E1A-66A1-73083D99D50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721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099D607-17A0-B885-E712-CA7714503AC1}"/>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1F92A11D-437B-5B0D-E50B-27CC3B4E2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71D8017D-1532-515D-C9F7-6899D240D6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807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DD7BF7D-B158-8DCF-431A-FE5DEF26597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42B45AE6-2F3E-BFEB-82E0-2821CF7DA8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8E2D5D-4469-F626-4041-D7D8AE43E6F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52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2E38300-19EA-B8CF-BEB2-F226C8B86C0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926102F-5405-1F24-02EF-128A9859F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C5D71D-72E8-3831-13DB-5BB4A643353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5592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41CAC8CC-724C-48A4-0B9F-F9D1E9007BC5}"/>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D38849CB-5D39-2486-97AF-D878C5621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0C8FA8D-9E57-0C55-2F05-2FEF8606C0C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6454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48064CC-B72C-C8AB-D5E3-CAD2D04604C4}"/>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096FA8B-3F5C-68AE-923A-A2FC1B9550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5F538B-8CEE-B480-8411-4B03A1F2EA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82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3389C84-472F-F119-CDAF-3C9E4F8BD638}"/>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A438E57B-F584-84DB-58DE-ECF0B85AF6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553954B-9DF1-6A2D-3ABE-C9335D1E8E8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5917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1566AA0-CC90-62BE-FD9E-52EEC88651C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71FC9F69-325E-2FE1-C70C-0BF416EEC6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C4899FC-A418-8D5E-4207-45BD0A2A471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6497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6EACBDC-78AF-7A15-AFC6-E075DAB09E5E}"/>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048970D-DADD-77DD-AEA0-7B90369EC3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FF1F98-EBE5-B149-E9DB-F98E9871AF2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4150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E57B56F-2512-E527-23EC-1026B472C5B1}"/>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0E7BBC5-D040-5436-C5DC-A21866F807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84EBBC34-4B57-CD1E-D319-51F2EF7A449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485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922A4914-3C16-59F4-7E1D-590D11F0C28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D0EBF3EB-F2BB-98CB-D67E-B1D2FE4C7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87CE48A9-C9F7-E40F-0ED0-D059983875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5243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66B7C87-3E42-6372-2E21-EA27A66839C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7FF5C21-0757-489F-DB66-FBB14E419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F9900474-8671-44F0-5A5E-61BD6F0A478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8139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74E14B78-F6C7-D825-EB48-0CEF5A8471C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459F052-52C4-0C68-2CF9-8557B6096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8364CE1-549D-7B0E-90D6-18B99D5EC6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2964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3E35E31-1D78-7B7B-1436-55EDC40C0F22}"/>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921711BD-E5CF-A2FC-BA9C-05552C3CD9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B69D66D-463B-044D-933B-54DADB2D461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4842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FE6CF7F1-F3AB-EDE1-9392-7322E234806F}"/>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BB32290-4292-4786-75DF-128789D7A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69B63EBC-4D53-5055-85AB-240C5BE7134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798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4A10D23-D948-513C-D1C0-524540AC5922}"/>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E7FBD59A-33BF-EF0F-9306-66403966C8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48D4752-87C4-B690-DE96-78A0357AA4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9588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22E68BB7-BAF1-8B71-BA9A-78E97A690F0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D0C51C8-85FF-692C-500C-C93445049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0C1BC390-33E0-F2EB-FBC9-B69C9C9E2BB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315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ACA63D02-B244-1C22-D7F2-2AC15590C4EC}"/>
            </a:ext>
          </a:extLst>
        </p:cNvPr>
        <p:cNvGrpSpPr/>
        <p:nvPr/>
      </p:nvGrpSpPr>
      <p:grpSpPr>
        <a:xfrm>
          <a:off x="0" y="0"/>
          <a:ext cx="0" cy="0"/>
          <a:chOff x="0" y="0"/>
          <a:chExt cx="0" cy="0"/>
        </a:xfrm>
      </p:grpSpPr>
      <p:sp>
        <p:nvSpPr>
          <p:cNvPr id="154" name="Google Shape;154;p1:notes">
            <a:extLst>
              <a:ext uri="{FF2B5EF4-FFF2-40B4-BE49-F238E27FC236}">
                <a16:creationId xmlns:a16="http://schemas.microsoft.com/office/drawing/2014/main" id="{732CB868-B914-CE04-41D9-9B67B9A80D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notes">
            <a:extLst>
              <a:ext uri="{FF2B5EF4-FFF2-40B4-BE49-F238E27FC236}">
                <a16:creationId xmlns:a16="http://schemas.microsoft.com/office/drawing/2014/main" id="{11EBBFD7-2DF0-D104-F164-3AE1867F7B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30004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545840B-2A19-4882-A1D8-A55AA3BA3738}"/>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63816F1-93CD-F26A-D17E-2F9B720A4D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24123655-014A-DD3F-9E3F-EEECD9778D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87200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D4C1988A-74D9-C820-2A01-201AD48AC9D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082F41F2-765E-D598-C3B1-13078FEB68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3" name="Google Shape;183;p3:notes">
            <a:extLst>
              <a:ext uri="{FF2B5EF4-FFF2-40B4-BE49-F238E27FC236}">
                <a16:creationId xmlns:a16="http://schemas.microsoft.com/office/drawing/2014/main" id="{C44D960D-5BD2-1D72-AD07-AF87223848C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5730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DD7BF7D-B158-8DCF-431A-FE5DEF26597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42B45AE6-2F3E-BFEB-82E0-2821CF7DA8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8E2D5D-4469-F626-4041-D7D8AE43E6F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527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286A9485-5803-1FA9-F3B6-FE5E5CCCCB3F}"/>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4DFD82FF-1397-4381-3D3E-0DDD7D1958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2C325796-43FF-7690-4957-ED9468ABAB5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3662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48064CC-B72C-C8AB-D5E3-CAD2D04604C4}"/>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096FA8B-3F5C-68AE-923A-A2FC1B9550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5F538B-8CEE-B480-8411-4B03A1F2EA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82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2E38300-19EA-B8CF-BEB2-F226C8B86C0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926102F-5405-1F24-02EF-128A9859F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C5D71D-72E8-3831-13DB-5BB4A643353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5592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41CAC8CC-724C-48A4-0B9F-F9D1E9007BC5}"/>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D38849CB-5D39-2486-97AF-D878C5621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0C8FA8D-9E57-0C55-2F05-2FEF8606C0C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64546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D52F425-4CEB-CA22-9F5C-C7C889015EAB}"/>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B938AC4-CC2B-FF1C-4345-AE4F92BF1B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E751CE52-B94C-E40D-556E-44F3DDBA53F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8766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F74F6A31-0A4C-29BA-123F-D7D2F4A5129C}"/>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017FE96D-F55D-2A7C-EDF4-34C7E68E74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97D9EA4-9F11-9212-01D7-7BB8A5E2302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814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66B7C87-3E42-6372-2E21-EA27A66839C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7FF5C21-0757-489F-DB66-FBB14E419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F9900474-8671-44F0-5A5E-61BD6F0A478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81395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74E14B78-F6C7-D825-EB48-0CEF5A8471C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459F052-52C4-0C68-2CF9-8557B6096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8364CE1-549D-7B0E-90D6-18B99D5EC6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29649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A39BB36-83D0-2F6E-9EEB-7D2A23EBDA5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1E746EBD-A41A-5563-6508-D3B282A2D8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3" name="Google Shape;183;p3:notes">
            <a:extLst>
              <a:ext uri="{FF2B5EF4-FFF2-40B4-BE49-F238E27FC236}">
                <a16:creationId xmlns:a16="http://schemas.microsoft.com/office/drawing/2014/main" id="{D6485E65-F8CC-1210-7579-D0EBA683F9F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62498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6E74F1C9-C7CC-6FE5-2289-5BFBD33FE318}"/>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B9529CC-5445-4D3D-E5D8-5C28184B85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60A52B9D-D4D2-C6AD-5AA2-93E57F87F65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462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22E68BB7-BAF1-8B71-BA9A-78E97A690F0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D0C51C8-85FF-692C-500C-C93445049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3" name="Google Shape;183;p3:notes">
            <a:extLst>
              <a:ext uri="{FF2B5EF4-FFF2-40B4-BE49-F238E27FC236}">
                <a16:creationId xmlns:a16="http://schemas.microsoft.com/office/drawing/2014/main" id="{0C1BC390-33E0-F2EB-FBC9-B69C9C9E2BB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315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lajd tytułowy">
  <p:cSld name="1_Slajd tytułowy">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ajd tytułowy" type="title">
  <p:cSld name="TITLE">
    <p:spTree>
      <p:nvGrpSpPr>
        <p:cNvPr id="1" name="Shape 7"/>
        <p:cNvGrpSpPr/>
        <p:nvPr/>
      </p:nvGrpSpPr>
      <p:grpSpPr>
        <a:xfrm>
          <a:off x="0" y="0"/>
          <a:ext cx="0" cy="0"/>
          <a:chOff x="0" y="0"/>
          <a:chExt cx="0" cy="0"/>
        </a:xfrm>
      </p:grpSpPr>
      <p:sp>
        <p:nvSpPr>
          <p:cNvPr id="8" name="Google Shape;8;p9"/>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9"/>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ytuł i zawartość" type="obj">
  <p:cSld name="OBJECT">
    <p:spTree>
      <p:nvGrpSpPr>
        <p:cNvPr id="1" name="Shape 13"/>
        <p:cNvGrpSpPr/>
        <p:nvPr/>
      </p:nvGrpSpPr>
      <p:grpSpPr>
        <a:xfrm>
          <a:off x="0" y="0"/>
          <a:ext cx="0" cy="0"/>
          <a:chOff x="0" y="0"/>
          <a:chExt cx="0" cy="0"/>
        </a:xfrm>
      </p:grpSpPr>
      <p:sp>
        <p:nvSpPr>
          <p:cNvPr id="14" name="Google Shape;14;p10"/>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6" name="Google Shape;16;p10"/>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10"/>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0"/>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agłówek sekcji" type="secHead">
  <p:cSld name="SECTION_HEADER">
    <p:spTree>
      <p:nvGrpSpPr>
        <p:cNvPr id="1" name="Shape 19"/>
        <p:cNvGrpSpPr/>
        <p:nvPr/>
      </p:nvGrpSpPr>
      <p:grpSpPr>
        <a:xfrm>
          <a:off x="0" y="0"/>
          <a:ext cx="0" cy="0"/>
          <a:chOff x="0" y="0"/>
          <a:chExt cx="0" cy="0"/>
        </a:xfrm>
      </p:grpSpPr>
      <p:sp>
        <p:nvSpPr>
          <p:cNvPr id="20" name="Google Shape;20;p11"/>
          <p:cNvSpPr txBox="1">
            <a:spLocks noGrp="1"/>
          </p:cNvSpPr>
          <p:nvPr>
            <p:ph type="title"/>
          </p:nvPr>
        </p:nvSpPr>
        <p:spPr>
          <a:xfrm>
            <a:off x="623888" y="1709742"/>
            <a:ext cx="78867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11"/>
          <p:cNvSpPr txBox="1">
            <a:spLocks noGrp="1"/>
          </p:cNvSpPr>
          <p:nvPr>
            <p:ph type="body" idx="1"/>
          </p:nvPr>
        </p:nvSpPr>
        <p:spPr>
          <a:xfrm>
            <a:off x="623888" y="4589467"/>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22" name="Google Shape;22;p11"/>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1"/>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1"/>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wa elementy zawartości" type="twoObj">
  <p:cSld name="TWO_OBJECTS">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12"/>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 name="Google Shape;28;p12"/>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 name="Google Shape;29;p12"/>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12"/>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12"/>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orównanie" type="twoTxTwoObj">
  <p:cSld name="TWO_OBJECTS_WITH_TEXT">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630238"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3"/>
          <p:cNvSpPr txBox="1">
            <a:spLocks noGrp="1"/>
          </p:cNvSpPr>
          <p:nvPr>
            <p:ph type="body" idx="1"/>
          </p:nvPr>
        </p:nvSpPr>
        <p:spPr>
          <a:xfrm>
            <a:off x="630239" y="1681163"/>
            <a:ext cx="386873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1350"/>
              <a:buFont typeface="Arial"/>
              <a:buNone/>
              <a:defRPr sz="135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35" name="Google Shape;35;p13"/>
          <p:cNvSpPr txBox="1">
            <a:spLocks noGrp="1"/>
          </p:cNvSpPr>
          <p:nvPr>
            <p:ph type="body" idx="2"/>
          </p:nvPr>
        </p:nvSpPr>
        <p:spPr>
          <a:xfrm>
            <a:off x="630239" y="2505075"/>
            <a:ext cx="3868737" cy="368458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 name="Google Shape;36;p13"/>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1350"/>
              <a:buFont typeface="Arial"/>
              <a:buNone/>
              <a:defRPr sz="135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37" name="Google Shape;37;p13"/>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8" name="Google Shape;38;p13"/>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13"/>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13"/>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ylko tytuł" type="titleOnly">
  <p:cSld name="TITLE_ONLY">
    <p:spTree>
      <p:nvGrpSpPr>
        <p:cNvPr id="1" name="Shape 41"/>
        <p:cNvGrpSpPr/>
        <p:nvPr/>
      </p:nvGrpSpPr>
      <p:grpSpPr>
        <a:xfrm>
          <a:off x="0" y="0"/>
          <a:ext cx="0" cy="0"/>
          <a:chOff x="0" y="0"/>
          <a:chExt cx="0" cy="0"/>
        </a:xfrm>
      </p:grpSpPr>
      <p:sp>
        <p:nvSpPr>
          <p:cNvPr id="42" name="Google Shape;42;p14"/>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4"/>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14"/>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14"/>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usty" type="blank">
  <p:cSld name="BLANK">
    <p:spTree>
      <p:nvGrpSpPr>
        <p:cNvPr id="1" name="Shape 46"/>
        <p:cNvGrpSpPr/>
        <p:nvPr/>
      </p:nvGrpSpPr>
      <p:grpSpPr>
        <a:xfrm>
          <a:off x="0" y="0"/>
          <a:ext cx="0" cy="0"/>
          <a:chOff x="0" y="0"/>
          <a:chExt cx="0" cy="0"/>
        </a:xfrm>
      </p:grpSpPr>
      <p:sp>
        <p:nvSpPr>
          <p:cNvPr id="47" name="Google Shape;47;p15"/>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5"/>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15"/>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Zawartość z podpisem" type="objTx">
  <p:cSld name="OBJECT_WITH_CAPTION_TEXT">
    <p:spTree>
      <p:nvGrpSpPr>
        <p:cNvPr id="1" name="Shape 50"/>
        <p:cNvGrpSpPr/>
        <p:nvPr/>
      </p:nvGrpSpPr>
      <p:grpSpPr>
        <a:xfrm>
          <a:off x="0" y="0"/>
          <a:ext cx="0" cy="0"/>
          <a:chOff x="0" y="0"/>
          <a:chExt cx="0" cy="0"/>
        </a:xfrm>
      </p:grpSpPr>
      <p:sp>
        <p:nvSpPr>
          <p:cNvPr id="51" name="Google Shape;51;p16"/>
          <p:cNvSpPr txBox="1">
            <a:spLocks noGrp="1"/>
          </p:cNvSpPr>
          <p:nvPr>
            <p:ph type="title"/>
          </p:nvPr>
        </p:nvSpPr>
        <p:spPr>
          <a:xfrm>
            <a:off x="630240" y="457200"/>
            <a:ext cx="2949575"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6"/>
          <p:cNvSpPr txBox="1">
            <a:spLocks noGrp="1"/>
          </p:cNvSpPr>
          <p:nvPr>
            <p:ph type="body" idx="1"/>
          </p:nvPr>
        </p:nvSpPr>
        <p:spPr>
          <a:xfrm>
            <a:off x="3887788" y="987429"/>
            <a:ext cx="4629150" cy="4873625"/>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375"/>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6"/>
          <p:cNvSpPr txBox="1">
            <a:spLocks noGrp="1"/>
          </p:cNvSpPr>
          <p:nvPr>
            <p:ph type="body" idx="2"/>
          </p:nvPr>
        </p:nvSpPr>
        <p:spPr>
          <a:xfrm>
            <a:off x="630240"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050"/>
              <a:buFont typeface="Arial"/>
              <a:buNone/>
              <a:defRPr sz="105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54" name="Google Shape;54;p16"/>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6"/>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16"/>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braz z podpisem" type="picTx">
  <p:cSld name="PICTURE_WITH_CAPTION_TEXT">
    <p:spTree>
      <p:nvGrpSpPr>
        <p:cNvPr id="1" name="Shape 57"/>
        <p:cNvGrpSpPr/>
        <p:nvPr/>
      </p:nvGrpSpPr>
      <p:grpSpPr>
        <a:xfrm>
          <a:off x="0" y="0"/>
          <a:ext cx="0" cy="0"/>
          <a:chOff x="0" y="0"/>
          <a:chExt cx="0" cy="0"/>
        </a:xfrm>
      </p:grpSpPr>
      <p:sp>
        <p:nvSpPr>
          <p:cNvPr id="58" name="Google Shape;58;p17"/>
          <p:cNvSpPr txBox="1">
            <a:spLocks noGrp="1"/>
          </p:cNvSpPr>
          <p:nvPr>
            <p:ph type="title"/>
          </p:nvPr>
        </p:nvSpPr>
        <p:spPr>
          <a:xfrm>
            <a:off x="630240" y="457200"/>
            <a:ext cx="2949575"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7"/>
          <p:cNvSpPr>
            <a:spLocks noGrp="1"/>
          </p:cNvSpPr>
          <p:nvPr>
            <p:ph type="pic" idx="2"/>
          </p:nvPr>
        </p:nvSpPr>
        <p:spPr>
          <a:xfrm>
            <a:off x="3887788" y="987429"/>
            <a:ext cx="4629150" cy="4873625"/>
          </a:xfrm>
          <a:prstGeom prst="rect">
            <a:avLst/>
          </a:prstGeom>
          <a:noFill/>
          <a:ln>
            <a:noFill/>
          </a:ln>
        </p:spPr>
      </p:sp>
      <p:sp>
        <p:nvSpPr>
          <p:cNvPr id="60" name="Google Shape;60;p17"/>
          <p:cNvSpPr txBox="1">
            <a:spLocks noGrp="1"/>
          </p:cNvSpPr>
          <p:nvPr>
            <p:ph type="body" idx="1"/>
          </p:nvPr>
        </p:nvSpPr>
        <p:spPr>
          <a:xfrm>
            <a:off x="630240"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050"/>
              <a:buFont typeface="Arial"/>
              <a:buNone/>
              <a:defRPr sz="105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61" name="Google Shape;61;p17"/>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7"/>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7"/>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ytuł i tekst pionowy" type="vertTx">
  <p:cSld name="VERTICAL_TEXT">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18"/>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7" name="Google Shape;67;p18"/>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8"/>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ytuł pionowy i tekst" type="vertTitleAndTx">
  <p:cSld name="VERTICAL_TITLE_AND_VERTICAL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rot="5400000">
            <a:off x="4623595" y="2285207"/>
            <a:ext cx="5811838" cy="197167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2" name="Google Shape;72;p19"/>
          <p:cNvSpPr txBox="1">
            <a:spLocks noGrp="1"/>
          </p:cNvSpPr>
          <p:nvPr>
            <p:ph type="body" idx="1"/>
          </p:nvPr>
        </p:nvSpPr>
        <p:spPr>
          <a:xfrm rot="5400000">
            <a:off x="604046" y="389731"/>
            <a:ext cx="5811838" cy="5762625"/>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3" name="Google Shape;73;p19"/>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9"/>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19"/>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Slajd tytułowy">
  <p:cSld name="2_Slajd tytułowy">
    <p:spTree>
      <p:nvGrpSpPr>
        <p:cNvPr id="1" name="Shape 7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Slajd tytułowy">
  <p:cSld name="3_Slajd tytułowy">
    <p:spTree>
      <p:nvGrpSpPr>
        <p:cNvPr id="1" name="Shape 77"/>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ytuł i zawartość" type="obj">
  <p:cSld name="OBJECT">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ajd tytułowy" type="title">
  <p:cSld name="TITLE">
    <p:spTree>
      <p:nvGrpSpPr>
        <p:cNvPr id="1" name="Shape 90"/>
        <p:cNvGrpSpPr/>
        <p:nvPr/>
      </p:nvGrpSpPr>
      <p:grpSpPr>
        <a:xfrm>
          <a:off x="0" y="0"/>
          <a:ext cx="0" cy="0"/>
          <a:chOff x="0" y="0"/>
          <a:chExt cx="0" cy="0"/>
        </a:xfrm>
      </p:grpSpPr>
      <p:sp>
        <p:nvSpPr>
          <p:cNvPr id="91" name="Google Shape;91;p2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agłówek sekcji" type="secHead">
  <p:cSld name="SECTION_HEADER">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3"/>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9" name="Google Shape;99;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wa elementy zawartości" type="twoObj">
  <p:cSld name="TWO_OBJECTS">
    <p:spTree>
      <p:nvGrpSpPr>
        <p:cNvPr id="1" name="Shape 102"/>
        <p:cNvGrpSpPr/>
        <p:nvPr/>
      </p:nvGrpSpPr>
      <p:grpSpPr>
        <a:xfrm>
          <a:off x="0" y="0"/>
          <a:ext cx="0" cy="0"/>
          <a:chOff x="0" y="0"/>
          <a:chExt cx="0" cy="0"/>
        </a:xfrm>
      </p:grpSpPr>
      <p:sp>
        <p:nvSpPr>
          <p:cNvPr id="103" name="Google Shape;103;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4"/>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4"/>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orównanie" type="twoTxTwoObj">
  <p:cSld name="TWO_OBJECTS_WITH_TEXT">
    <p:spTree>
      <p:nvGrpSpPr>
        <p:cNvPr id="1" name="Shape 109"/>
        <p:cNvGrpSpPr/>
        <p:nvPr/>
      </p:nvGrpSpPr>
      <p:grpSpPr>
        <a:xfrm>
          <a:off x="0" y="0"/>
          <a:ext cx="0" cy="0"/>
          <a:chOff x="0" y="0"/>
          <a:chExt cx="0" cy="0"/>
        </a:xfrm>
      </p:grpSpPr>
      <p:sp>
        <p:nvSpPr>
          <p:cNvPr id="110" name="Google Shape;110;p25"/>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5"/>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p25"/>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25"/>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4" name="Google Shape;114;p25"/>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ylko tytuł" type="titleOnly">
  <p:cSld name="TITLE_ONL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usty" type="blank">
  <p:cSld name="BLANK">
    <p:spTree>
      <p:nvGrpSpPr>
        <p:cNvPr id="1" name="Shape 123"/>
        <p:cNvGrpSpPr/>
        <p:nvPr/>
      </p:nvGrpSpPr>
      <p:grpSpPr>
        <a:xfrm>
          <a:off x="0" y="0"/>
          <a:ext cx="0" cy="0"/>
          <a:chOff x="0" y="0"/>
          <a:chExt cx="0" cy="0"/>
        </a:xfrm>
      </p:grpSpPr>
      <p:sp>
        <p:nvSpPr>
          <p:cNvPr id="124" name="Google Shape;124;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Zawartość z podpisem" type="objTx">
  <p:cSld name="OBJECT_WITH_CAPTION_TEXT">
    <p:spTree>
      <p:nvGrpSpPr>
        <p:cNvPr id="1" name="Shape 127"/>
        <p:cNvGrpSpPr/>
        <p:nvPr/>
      </p:nvGrpSpPr>
      <p:grpSpPr>
        <a:xfrm>
          <a:off x="0" y="0"/>
          <a:ext cx="0" cy="0"/>
          <a:chOff x="0" y="0"/>
          <a:chExt cx="0" cy="0"/>
        </a:xfrm>
      </p:grpSpPr>
      <p:sp>
        <p:nvSpPr>
          <p:cNvPr id="128" name="Google Shape;128;p2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8"/>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0" name="Google Shape;130;p28"/>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1" name="Google Shape;131;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braz z podpisem" type="picTx">
  <p:cSld name="PICTURE_WITH_CAPTION_TEXT">
    <p:spTree>
      <p:nvGrpSpPr>
        <p:cNvPr id="1" name="Shape 134"/>
        <p:cNvGrpSpPr/>
        <p:nvPr/>
      </p:nvGrpSpPr>
      <p:grpSpPr>
        <a:xfrm>
          <a:off x="0" y="0"/>
          <a:ext cx="0" cy="0"/>
          <a:chOff x="0" y="0"/>
          <a:chExt cx="0" cy="0"/>
        </a:xfrm>
      </p:grpSpPr>
      <p:sp>
        <p:nvSpPr>
          <p:cNvPr id="135" name="Google Shape;135;p2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9"/>
          <p:cNvSpPr>
            <a:spLocks noGrp="1"/>
          </p:cNvSpPr>
          <p:nvPr>
            <p:ph type="pic" idx="2"/>
          </p:nvPr>
        </p:nvSpPr>
        <p:spPr>
          <a:xfrm>
            <a:off x="3887391" y="987426"/>
            <a:ext cx="4629150" cy="4873625"/>
          </a:xfrm>
          <a:prstGeom prst="rect">
            <a:avLst/>
          </a:prstGeom>
          <a:noFill/>
          <a:ln>
            <a:noFill/>
          </a:ln>
        </p:spPr>
      </p:sp>
      <p:sp>
        <p:nvSpPr>
          <p:cNvPr id="137" name="Google Shape;137;p29"/>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8" name="Google Shape;138;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ytuł i tekst pionowy" type="vertTx">
  <p:cSld name="VERTICAL_TEXT">
    <p:spTree>
      <p:nvGrpSpPr>
        <p:cNvPr id="1" name="Shape 141"/>
        <p:cNvGrpSpPr/>
        <p:nvPr/>
      </p:nvGrpSpPr>
      <p:grpSpPr>
        <a:xfrm>
          <a:off x="0" y="0"/>
          <a:ext cx="0" cy="0"/>
          <a:chOff x="0" y="0"/>
          <a:chExt cx="0" cy="0"/>
        </a:xfrm>
      </p:grpSpPr>
      <p:sp>
        <p:nvSpPr>
          <p:cNvPr id="142" name="Google Shape;142;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3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ytuł pionowy i tekst" type="vertTitleAndTx">
  <p:cSld name="VERTICAL_TITLE_AND_VERTICAL_TEXT">
    <p:spTree>
      <p:nvGrpSpPr>
        <p:cNvPr id="1" name="Shape 147"/>
        <p:cNvGrpSpPr/>
        <p:nvPr/>
      </p:nvGrpSpPr>
      <p:grpSpPr>
        <a:xfrm>
          <a:off x="0" y="0"/>
          <a:ext cx="0" cy="0"/>
          <a:chOff x="0" y="0"/>
          <a:chExt cx="0" cy="0"/>
        </a:xfrm>
      </p:grpSpPr>
      <p:sp>
        <p:nvSpPr>
          <p:cNvPr id="148" name="Google Shape;148;p31"/>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1"/>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Slajd tytułowy">
  <p:cSld name="1_Slajd tytułowy">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1525078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p:cNvGrpSpPr/>
        <p:nvPr/>
      </p:nvGrpSpPr>
      <p:grpSpPr>
        <a:xfrm>
          <a:off x="0" y="0"/>
          <a:ext cx="0" cy="0"/>
          <a:chOff x="0" y="0"/>
          <a:chExt cx="0" cy="0"/>
        </a:xfrm>
      </p:grpSpPr>
      <p:sp>
        <p:nvSpPr>
          <p:cNvPr id="79" name="Google Shape;79;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l-PL"/>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
          <p:cNvSpPr/>
          <p:nvPr/>
        </p:nvSpPr>
        <p:spPr>
          <a:xfrm>
            <a:off x="3657600" y="628459"/>
            <a:ext cx="2460171" cy="22712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lang="en-US" sz="1800" b="0" i="0" u="none" strike="noStrike" cap="none" dirty="0">
              <a:solidFill>
                <a:srgbClr val="000000"/>
              </a:solidFill>
              <a:latin typeface="Calibri"/>
              <a:ea typeface="Calibri"/>
              <a:cs typeface="Calibri"/>
              <a:sym typeface="Calibri"/>
            </a:endParaRPr>
          </a:p>
        </p:txBody>
      </p:sp>
      <p:cxnSp>
        <p:nvCxnSpPr>
          <p:cNvPr id="158" name="Google Shape;158;p1"/>
          <p:cNvCxnSpPr/>
          <p:nvPr/>
        </p:nvCxnSpPr>
        <p:spPr>
          <a:xfrm>
            <a:off x="1583474" y="3162118"/>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59" name="Google Shape;159;p1"/>
          <p:cNvSpPr/>
          <p:nvPr/>
        </p:nvSpPr>
        <p:spPr>
          <a:xfrm>
            <a:off x="1080000" y="288000"/>
            <a:ext cx="178420" cy="6120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lang="en-US" sz="1800" b="0" i="0" u="none" strike="noStrike" cap="none" dirty="0">
              <a:solidFill>
                <a:srgbClr val="FFFFFF"/>
              </a:solidFill>
              <a:latin typeface="Calibri"/>
              <a:ea typeface="Calibri"/>
              <a:cs typeface="Calibri"/>
              <a:sym typeface="Calibri"/>
            </a:endParaRPr>
          </a:p>
        </p:txBody>
      </p:sp>
      <p:cxnSp>
        <p:nvCxnSpPr>
          <p:cNvPr id="160" name="Google Shape;160;p1"/>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1" name="Google Shape;161;p1"/>
          <p:cNvSpPr txBox="1"/>
          <p:nvPr/>
        </p:nvSpPr>
        <p:spPr>
          <a:xfrm>
            <a:off x="1583474" y="5952542"/>
            <a:ext cx="3378819" cy="276999"/>
          </a:xfrm>
          <a:prstGeom prst="rect">
            <a:avLst/>
          </a:prstGeom>
          <a:noFill/>
          <a:ln>
            <a:noFill/>
          </a:ln>
        </p:spPr>
        <p:txBody>
          <a:bodyPr spcFirstLastPara="1" wrap="square" lIns="91425" tIns="45700" rIns="91425" bIns="45700" anchor="t" anchorCtr="0">
            <a:spAutoFit/>
          </a:bodyPr>
          <a:lstStyle/>
          <a:p>
            <a:r>
              <a:rPr lang="en-US" sz="1200" dirty="0">
                <a:latin typeface="Arial" panose="020B0604020202020204" pitchFamily="34" charset="0"/>
                <a:cs typeface="Arial" panose="020B0604020202020204" pitchFamily="34" charset="0"/>
              </a:rPr>
              <a:t>Warsaw, 8</a:t>
            </a:r>
            <a:r>
              <a:rPr lang="en-US" sz="1200" baseline="30000" dirty="0">
                <a:latin typeface="Arial" panose="020B0604020202020204" pitchFamily="34" charset="0"/>
                <a:cs typeface="Arial" panose="020B0604020202020204" pitchFamily="34" charset="0"/>
              </a:rPr>
              <a:t>th</a:t>
            </a:r>
            <a:r>
              <a:rPr lang="en-US" sz="1200" dirty="0">
                <a:latin typeface="Arial" panose="020B0604020202020204" pitchFamily="34" charset="0"/>
                <a:cs typeface="Arial" panose="020B0604020202020204" pitchFamily="34" charset="0"/>
              </a:rPr>
              <a:t> of February 2026</a:t>
            </a:r>
          </a:p>
        </p:txBody>
      </p:sp>
      <p:sp>
        <p:nvSpPr>
          <p:cNvPr id="162" name="Google Shape;162;p1"/>
          <p:cNvSpPr txBox="1"/>
          <p:nvPr/>
        </p:nvSpPr>
        <p:spPr>
          <a:xfrm>
            <a:off x="1583474" y="3587610"/>
            <a:ext cx="6480600" cy="369291"/>
          </a:xfrm>
          <a:prstGeom prst="rect">
            <a:avLst/>
          </a:prstGeom>
          <a:noFill/>
          <a:ln>
            <a:noFill/>
          </a:ln>
        </p:spPr>
        <p:txBody>
          <a:bodyPr spcFirstLastPara="1" wrap="square" lIns="91425" tIns="45700" rIns="91425" bIns="45700" anchor="t" anchorCtr="0">
            <a:spAutoFit/>
          </a:bodyPr>
          <a:lstStyle/>
          <a:p>
            <a:r>
              <a:rPr lang="en-US" sz="1800" dirty="0">
                <a:latin typeface="Arial" panose="020B0604020202020204" pitchFamily="34" charset="0"/>
                <a:cs typeface="Arial" panose="020B0604020202020204" pitchFamily="34" charset="0"/>
              </a:rPr>
              <a:t>Introduction to Reinforcement Learning</a:t>
            </a:r>
          </a:p>
        </p:txBody>
      </p:sp>
      <p:cxnSp>
        <p:nvCxnSpPr>
          <p:cNvPr id="163" name="Google Shape;163;p1"/>
          <p:cNvCxnSpPr/>
          <p:nvPr/>
        </p:nvCxnSpPr>
        <p:spPr>
          <a:xfrm>
            <a:off x="1583474" y="3956901"/>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4" name="Google Shape;164;p1"/>
          <p:cNvSpPr txBox="1"/>
          <p:nvPr/>
        </p:nvSpPr>
        <p:spPr>
          <a:xfrm>
            <a:off x="1583474" y="2294907"/>
            <a:ext cx="7200000" cy="830956"/>
          </a:xfrm>
          <a:prstGeom prst="rect">
            <a:avLst/>
          </a:prstGeom>
          <a:noFill/>
          <a:ln>
            <a:noFill/>
          </a:ln>
        </p:spPr>
        <p:txBody>
          <a:bodyPr spcFirstLastPara="1" wrap="square" lIns="91425" tIns="45700" rIns="91425" bIns="45700" anchor="t" anchorCtr="0">
            <a:spAutoFit/>
          </a:bodyPr>
          <a:lstStyle/>
          <a:p>
            <a:r>
              <a:rPr lang="en-US" sz="2400" b="1" dirty="0">
                <a:latin typeface="+mn-lt"/>
                <a:cs typeface="Arial" panose="020B0604020202020204" pitchFamily="34" charset="0"/>
              </a:rPr>
              <a:t>Blackjack using Double Q-learning </a:t>
            </a:r>
          </a:p>
          <a:p>
            <a:r>
              <a:rPr lang="en-US" sz="2400" b="1" dirty="0">
                <a:latin typeface="+mn-lt"/>
                <a:cs typeface="Arial" panose="020B0604020202020204" pitchFamily="34" charset="0"/>
              </a:rPr>
              <a:t>and </a:t>
            </a:r>
            <a:r>
              <a:rPr lang="en-US" sz="2400" b="1" i="1" dirty="0">
                <a:latin typeface="+mn-lt"/>
              </a:rPr>
              <a:t>A2C with GAE(</a:t>
            </a:r>
            <a:r>
              <a:rPr lang="en-US" sz="2400" b="1" i="1" dirty="0" err="1">
                <a:latin typeface="+mn-lt"/>
              </a:rPr>
              <a:t>λ</a:t>
            </a:r>
            <a:r>
              <a:rPr lang="en-US" sz="2400" b="1" i="1" dirty="0">
                <a:latin typeface="+mn-lt"/>
              </a:rPr>
              <a:t>) (actor-critic)</a:t>
            </a:r>
            <a:r>
              <a:rPr lang="en-US" sz="2400" b="1" dirty="0">
                <a:latin typeface="+mn-lt"/>
              </a:rPr>
              <a:t> </a:t>
            </a:r>
            <a:r>
              <a:rPr lang="en-US" sz="2400" b="1" dirty="0">
                <a:latin typeface="+mn-lt"/>
                <a:cs typeface="Arial" panose="020B0604020202020204" pitchFamily="34" charset="0"/>
              </a:rPr>
              <a:t> </a:t>
            </a:r>
            <a:endParaRPr lang="en-US" sz="2400" b="1" dirty="0">
              <a:latin typeface="+mn-lt"/>
              <a:ea typeface="Times New Roman" panose="02020603050405020304" pitchFamily="18" charset="0"/>
              <a:cs typeface="Arial" panose="020B0604020202020204" pitchFamily="34" charset="0"/>
            </a:endParaRPr>
          </a:p>
        </p:txBody>
      </p:sp>
      <p:sp>
        <p:nvSpPr>
          <p:cNvPr id="165" name="Google Shape;165;p1"/>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Arial"/>
                <a:ea typeface="Arial"/>
                <a:cs typeface="Arial"/>
                <a:sym typeface="Arial"/>
              </a:rPr>
              <a:t>Piotr Radziszewski, Andrzej Żernaczuk</a:t>
            </a:r>
            <a:endParaRPr lang="en-US" dirty="0"/>
          </a:p>
        </p:txBody>
      </p:sp>
      <p:pic>
        <p:nvPicPr>
          <p:cNvPr id="166" name="Google Shape;166;p1"/>
          <p:cNvPicPr preferRelativeResize="0"/>
          <p:nvPr/>
        </p:nvPicPr>
        <p:blipFill rotWithShape="1">
          <a:blip r:embed="rId3">
            <a:alphaModFix/>
          </a:blip>
          <a:srcRect/>
          <a:stretch/>
        </p:blipFill>
        <p:spPr>
          <a:xfrm>
            <a:off x="1490356" y="376370"/>
            <a:ext cx="3958468" cy="1123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cxnSp>
        <p:nvCxnSpPr>
          <p:cNvPr id="185" name="Google Shape;185;p3"/>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a:t>
            </a:r>
            <a:endParaRPr dirty="0"/>
          </a:p>
        </p:txBody>
      </p:sp>
      <p:cxnSp>
        <p:nvCxnSpPr>
          <p:cNvPr id="192" name="Google Shape;192;p3"/>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Game </a:t>
            </a:r>
            <a:r>
              <a:rPr lang="pl-PL" sz="2400" b="1" dirty="0" err="1">
                <a:solidFill>
                  <a:schemeClr val="dk1"/>
                </a:solidFill>
              </a:rPr>
              <a:t>description</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83200D56-15C4-3F7E-490C-63FE089DA773}"/>
              </a:ext>
            </a:extLst>
          </p:cNvPr>
          <p:cNvSpPr txBox="1"/>
          <p:nvPr/>
        </p:nvSpPr>
        <p:spPr>
          <a:xfrm>
            <a:off x="1583474" y="1277225"/>
            <a:ext cx="6784670"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Environment: </a:t>
            </a:r>
            <a:r>
              <a:rPr lang="en-US" altLang="en-US" sz="1800" dirty="0">
                <a:solidFill>
                  <a:schemeClr val="tx1"/>
                </a:solidFill>
                <a:latin typeface="Calibri" panose="020F0502020204030204" pitchFamily="34" charset="0"/>
                <a:cs typeface="Calibri" panose="020F0502020204030204" pitchFamily="34" charset="0"/>
              </a:rPr>
              <a:t>Gymnasium Blackjack-v1</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The game starts with the dealer having one face up and one face down card, while the player has two face up cards. All cards are drawn from an infinite deck.</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The card values are:</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Face cards (Jack, Queen, King) have a point value of 10.</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Aces can either count as 11 (called a ‘usable ace’) or 1.</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Numerical cards (2-10) have a value equal to their number.</a:t>
            </a:r>
          </a:p>
        </p:txBody>
      </p:sp>
    </p:spTree>
    <p:extLst>
      <p:ext uri="{BB962C8B-B14F-4D97-AF65-F5344CB8AC3E}">
        <p14:creationId xmlns:p14="http://schemas.microsoft.com/office/powerpoint/2010/main" val="2686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01D225E-C327-0C88-01D5-9B2022453B2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9DBA0EB9-04BD-085B-39C7-279DBB193C70}"/>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91C47D0E-2796-E52B-9C6B-8719E443A8B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F0510036-FA83-A624-E457-35FC3495FEB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32A2E8C-B70F-0912-5CDE-9245D8C6591D}"/>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39F2786-2275-1B1C-E927-D42E3B5D2B9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539C8CD2-28A8-580D-DDB3-D447F2AF03EA}"/>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a:t>
            </a:r>
            <a:endParaRPr dirty="0"/>
          </a:p>
        </p:txBody>
      </p:sp>
      <p:cxnSp>
        <p:nvCxnSpPr>
          <p:cNvPr id="192" name="Google Shape;192;p3">
            <a:extLst>
              <a:ext uri="{FF2B5EF4-FFF2-40B4-BE49-F238E27FC236}">
                <a16:creationId xmlns:a16="http://schemas.microsoft.com/office/drawing/2014/main" id="{7C9ED609-F653-36FD-1518-B1FD1EF7472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9625BA1F-FC89-A6BA-6CAD-BE0D7334C91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Game </a:t>
            </a:r>
            <a:r>
              <a:rPr lang="pl-PL" sz="2400" b="1" dirty="0" err="1">
                <a:solidFill>
                  <a:schemeClr val="dk1"/>
                </a:solidFill>
              </a:rPr>
              <a:t>description</a:t>
            </a:r>
            <a:r>
              <a:rPr lang="pl-PL" sz="2400" b="1" dirty="0">
                <a:solidFill>
                  <a:schemeClr val="dk1"/>
                </a:solidFill>
              </a:rPr>
              <a:t> </a:t>
            </a:r>
            <a:r>
              <a:rPr lang="pl-PL" sz="2400" b="1" dirty="0" err="1">
                <a:solidFill>
                  <a:schemeClr val="dk1"/>
                </a:solidFill>
              </a:rPr>
              <a:t>continuation</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7262A531-73BB-A02A-1557-5214FDDBBC79}"/>
              </a:ext>
            </a:extLst>
          </p:cNvPr>
          <p:cNvSpPr txBox="1"/>
          <p:nvPr/>
        </p:nvSpPr>
        <p:spPr>
          <a:xfrm>
            <a:off x="1583474" y="1277225"/>
            <a:ext cx="6784670"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The player has the sum of cards held. The player can request additional cards (hit) until they decide to stop (stick) or exceed 21 (bust, immediate loss).</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After the player sticks, the dealer reveals their facedown card and draws cards until their sum is 17 or greater. If the dealer goes bust, the player wins.</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If neither the player nor the dealer busts, the outcome (win, lose, draw) is decided by whose sum is closer to 21.</a:t>
            </a:r>
          </a:p>
        </p:txBody>
      </p:sp>
    </p:spTree>
    <p:extLst>
      <p:ext uri="{BB962C8B-B14F-4D97-AF65-F5344CB8AC3E}">
        <p14:creationId xmlns:p14="http://schemas.microsoft.com/office/powerpoint/2010/main" val="364060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00E3CA4-553F-6E1A-5472-0B2B12B0D67C}"/>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FCFD9B-EF7A-A09F-98FE-0B917F81DC1D}"/>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DE020CD-D437-ED68-7C24-4F20900611D5}"/>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2209BE96-1AE2-D41E-366A-F8428861BAA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B47F1373-F72E-AB8D-934F-449FE9BA2D0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D7C4E3F-359A-858E-006E-7BA7E3CE9BB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3E2F2E7-2343-6735-C568-7A2329457D2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4</a:t>
            </a:r>
            <a:endParaRPr dirty="0"/>
          </a:p>
        </p:txBody>
      </p:sp>
      <p:cxnSp>
        <p:nvCxnSpPr>
          <p:cNvPr id="192" name="Google Shape;192;p3">
            <a:extLst>
              <a:ext uri="{FF2B5EF4-FFF2-40B4-BE49-F238E27FC236}">
                <a16:creationId xmlns:a16="http://schemas.microsoft.com/office/drawing/2014/main" id="{BBA9648E-CDFE-43A1-0242-DD2903C8899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423E6A3B-F204-0C16-8329-2900ED041D65}"/>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endParaRPr dirty="0"/>
          </a:p>
        </p:txBody>
      </p:sp>
      <p:sp>
        <p:nvSpPr>
          <p:cNvPr id="6" name="Google Shape;210;p4">
            <a:extLst>
              <a:ext uri="{FF2B5EF4-FFF2-40B4-BE49-F238E27FC236}">
                <a16:creationId xmlns:a16="http://schemas.microsoft.com/office/drawing/2014/main" id="{5B2ED6B3-5C35-14AF-953C-9F12C72B2179}"/>
              </a:ext>
            </a:extLst>
          </p:cNvPr>
          <p:cNvSpPr txBox="1"/>
          <p:nvPr/>
        </p:nvSpPr>
        <p:spPr>
          <a:xfrm>
            <a:off x="1583474" y="1485569"/>
            <a:ext cx="6784670" cy="341627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panose="020F0502020204030204" pitchFamily="34" charset="0"/>
                <a:ea typeface="Calibri"/>
                <a:cs typeface="Calibri" panose="020F0502020204030204" pitchFamily="34" charset="0"/>
                <a:sym typeface="Calibri"/>
              </a:rPr>
              <a:t>Starting</a:t>
            </a:r>
            <a:r>
              <a:rPr lang="pl-PL" sz="1800" b="1" dirty="0">
                <a:solidFill>
                  <a:schemeClr val="dk1"/>
                </a:solidFill>
                <a:latin typeface="Calibri" panose="020F0502020204030204" pitchFamily="34" charset="0"/>
                <a:ea typeface="Calibri"/>
                <a:cs typeface="Calibri" panose="020F0502020204030204" pitchFamily="34" charset="0"/>
                <a:sym typeface="Calibri"/>
              </a:rPr>
              <a:t> </a:t>
            </a:r>
            <a:r>
              <a:rPr lang="pl-PL" sz="1800" b="1" dirty="0" err="1">
                <a:solidFill>
                  <a:schemeClr val="dk1"/>
                </a:solidFill>
                <a:latin typeface="Calibri" panose="020F0502020204030204" pitchFamily="34" charset="0"/>
                <a:ea typeface="Calibri"/>
                <a:cs typeface="Calibri" panose="020F0502020204030204" pitchFamily="34" charset="0"/>
                <a:sym typeface="Calibri"/>
              </a:rPr>
              <a:t>state</a:t>
            </a:r>
            <a:r>
              <a:rPr lang="pl-PL" sz="1800" b="1" dirty="0">
                <a:solidFill>
                  <a:schemeClr val="dk1"/>
                </a:solidFill>
                <a:latin typeface="Calibri" panose="020F0502020204030204" pitchFamily="34" charset="0"/>
                <a:ea typeface="Calibri"/>
                <a:cs typeface="Calibri" panose="020F0502020204030204" pitchFamily="34" charset="0"/>
                <a:sym typeface="Calibri"/>
              </a:rPr>
              <a: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Player </a:t>
            </a:r>
            <a:r>
              <a:rPr lang="pl-PL" sz="1800" dirty="0" err="1">
                <a:solidFill>
                  <a:schemeClr val="dk1"/>
                </a:solidFill>
                <a:latin typeface="Calibri" panose="020F0502020204030204" pitchFamily="34" charset="0"/>
                <a:ea typeface="Calibri"/>
                <a:cs typeface="Calibri" panose="020F0502020204030204" pitchFamily="34" charset="0"/>
                <a:sym typeface="Calibri"/>
              </a:rPr>
              <a:t>current</a:t>
            </a:r>
            <a:r>
              <a:rPr lang="pl-PL" sz="1800" dirty="0">
                <a:solidFill>
                  <a:schemeClr val="dk1"/>
                </a:solidFill>
                <a:latin typeface="Calibri" panose="020F0502020204030204" pitchFamily="34" charset="0"/>
                <a:ea typeface="Calibri"/>
                <a:cs typeface="Calibri" panose="020F0502020204030204" pitchFamily="34" charset="0"/>
                <a:sym typeface="Calibri"/>
              </a:rPr>
              <a:t> sum: {4, 5, …, 21}</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Dealer </a:t>
            </a:r>
            <a:r>
              <a:rPr lang="pl-PL" sz="1800" dirty="0" err="1">
                <a:solidFill>
                  <a:schemeClr val="dk1"/>
                </a:solidFill>
                <a:latin typeface="Calibri" panose="020F0502020204030204" pitchFamily="34" charset="0"/>
                <a:ea typeface="Calibri"/>
                <a:cs typeface="Calibri" panose="020F0502020204030204" pitchFamily="34" charset="0"/>
                <a:sym typeface="Calibri"/>
              </a:rPr>
              <a:t>showing</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card</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value</a:t>
            </a:r>
            <a:r>
              <a:rPr lang="pl-PL" sz="1800" dirty="0">
                <a:solidFill>
                  <a:schemeClr val="dk1"/>
                </a:solidFill>
                <a:latin typeface="Calibri" panose="020F0502020204030204" pitchFamily="34" charset="0"/>
                <a:ea typeface="Calibri"/>
                <a:cs typeface="Calibri" panose="020F0502020204030204" pitchFamily="34" charset="0"/>
                <a:sym typeface="Calibri"/>
              </a:rPr>
              <a:t>: {1, 2, …, 10}</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panose="020F0502020204030204" pitchFamily="34" charset="0"/>
                <a:ea typeface="Calibri"/>
                <a:cs typeface="Calibri" panose="020F0502020204030204" pitchFamily="34" charset="0"/>
                <a:sym typeface="Calibri"/>
              </a:rPr>
              <a:t>Usable</a:t>
            </a:r>
            <a:r>
              <a:rPr lang="pl-PL" sz="1800" dirty="0">
                <a:solidFill>
                  <a:schemeClr val="dk1"/>
                </a:solidFill>
                <a:latin typeface="Calibri" panose="020F0502020204030204" pitchFamily="34" charset="0"/>
                <a:ea typeface="Calibri"/>
                <a:cs typeface="Calibri" panose="020F0502020204030204" pitchFamily="34" charset="0"/>
                <a:sym typeface="Calibri"/>
              </a:rPr>
              <a:t> Ace: {0, 1}</a:t>
            </a:r>
          </a:p>
          <a:p>
            <a:pPr marL="285750" marR="0" lvl="0" indent="-274638" algn="l" rtl="0">
              <a:lnSpc>
                <a:spcPct val="150000"/>
              </a:lnSpc>
              <a:spcBef>
                <a:spcPts val="0"/>
              </a:spcBef>
              <a:spcAft>
                <a:spcPts val="0"/>
              </a:spcAft>
              <a:buClr>
                <a:schemeClr val="dk1"/>
              </a:buClr>
              <a:buSzPts val="1800"/>
            </a:pPr>
            <a:endParaRPr lang="pl-PL" sz="1800" dirty="0">
              <a:solidFill>
                <a:schemeClr val="dk1"/>
              </a:solidFill>
              <a:latin typeface="Calibri" panose="020F0502020204030204" pitchFamily="34" charset="0"/>
              <a:ea typeface="Calibri"/>
              <a:cs typeface="Calibri" panose="020F0502020204030204" pitchFamily="34" charset="0"/>
              <a:sym typeface="Calibri"/>
            </a:endParaRPr>
          </a:p>
          <a:p>
            <a:pPr marL="11113" lvl="0">
              <a:lnSpc>
                <a:spcPct val="150000"/>
              </a:lnSpc>
              <a:buClr>
                <a:schemeClr val="dk1"/>
              </a:buClr>
              <a:buSzPts val="1800"/>
            </a:pPr>
            <a:r>
              <a:rPr lang="en-US" sz="1800" dirty="0">
                <a:latin typeface="Calibri" panose="020F0502020204030204" pitchFamily="34" charset="0"/>
                <a:cs typeface="Calibri" panose="020F0502020204030204" pitchFamily="34" charset="0"/>
              </a:rPr>
              <a:t>The observation consists of a 3-tuple containing: the player’s current sum, the value of the dealer’s one showing card (1-10 where 1 is ace), and whether the player holds a usable ace (0 or 1).</a:t>
            </a:r>
          </a:p>
        </p:txBody>
      </p:sp>
    </p:spTree>
    <p:extLst>
      <p:ext uri="{BB962C8B-B14F-4D97-AF65-F5344CB8AC3E}">
        <p14:creationId xmlns:p14="http://schemas.microsoft.com/office/powerpoint/2010/main" val="331810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7F8197E2-01A9-0DF9-0C25-84A13CB977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6087E5-B5F1-C1A0-A455-69CE040299B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61818AF2-9CB9-339D-D83E-C353EED358A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BECF84F-5AC7-6D46-A383-5849169DFA5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778E87F9-7235-E502-551B-E9D25E270E4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58D2402-7C36-82DE-884D-DE167632FDA5}"/>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F3E7D353-4DC9-8FF1-5F26-1977E19B768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5</a:t>
            </a:r>
            <a:endParaRPr dirty="0"/>
          </a:p>
        </p:txBody>
      </p:sp>
      <p:cxnSp>
        <p:nvCxnSpPr>
          <p:cNvPr id="192" name="Google Shape;192;p3">
            <a:extLst>
              <a:ext uri="{FF2B5EF4-FFF2-40B4-BE49-F238E27FC236}">
                <a16:creationId xmlns:a16="http://schemas.microsoft.com/office/drawing/2014/main" id="{26F54CAF-8175-3018-2C28-1E4A0E727CBB}"/>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5CAD1E9-899E-1741-7102-DBAA5AFAC7A7}"/>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r>
              <a:rPr lang="pl-PL" sz="2400" b="1" dirty="0" err="1">
                <a:solidFill>
                  <a:schemeClr val="dk1"/>
                </a:solidFill>
                <a:latin typeface="Arial"/>
                <a:ea typeface="Arial"/>
                <a:cs typeface="Arial"/>
                <a:sym typeface="Arial"/>
              </a:rPr>
              <a:t>cont’d</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1D7964D5-CEFF-70D7-E66B-13FC2F8DFEE7}"/>
              </a:ext>
            </a:extLst>
          </p:cNvPr>
          <p:cNvSpPr txBox="1"/>
          <p:nvPr/>
        </p:nvSpPr>
        <p:spPr>
          <a:xfrm>
            <a:off x="1583474" y="1314363"/>
            <a:ext cx="6784670" cy="38317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Actions</a:t>
            </a:r>
            <a:r>
              <a:rPr lang="pl-PL" sz="1800" b="1" dirty="0">
                <a:solidFill>
                  <a:schemeClr val="dk1"/>
                </a:solidFill>
                <a:latin typeface="Calibri"/>
                <a:ea typeface="Calibri"/>
                <a:cs typeface="Calibri"/>
                <a:sym typeface="Calibri"/>
              </a:rPr>
              <a: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0: </a:t>
            </a:r>
            <a:r>
              <a:rPr lang="pl-PL" sz="1800" dirty="0" err="1">
                <a:solidFill>
                  <a:schemeClr val="dk1"/>
                </a:solidFill>
                <a:latin typeface="Calibri"/>
                <a:ea typeface="Calibri"/>
                <a:cs typeface="Calibri"/>
                <a:sym typeface="Calibri"/>
              </a:rPr>
              <a:t>Stick</a:t>
            </a:r>
            <a:endParaRPr lang="pl-PL" sz="1800" dirty="0">
              <a:solidFill>
                <a:schemeClr val="dk1"/>
              </a:solidFill>
              <a:latin typeface="Calibri"/>
              <a:ea typeface="Calibri"/>
              <a:cs typeface="Calibri"/>
              <a:sym typeface="Calibri"/>
            </a:endParaRP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1: Hit</a:t>
            </a:r>
          </a:p>
          <a:p>
            <a:pPr marL="285750" marR="0" lvl="0" indent="-285750" algn="l" rtl="0">
              <a:lnSpc>
                <a:spcPct val="150000"/>
              </a:lnSpc>
              <a:spcBef>
                <a:spcPts val="0"/>
              </a:spcBef>
              <a:spcAft>
                <a:spcPts val="0"/>
              </a:spcAft>
              <a:buClr>
                <a:schemeClr val="dk1"/>
              </a:buClr>
              <a:buSzPts val="1800"/>
              <a:buFont typeface="Arial"/>
              <a:buChar char="•"/>
            </a:pPr>
            <a:endParaRPr lang="pl-PL" sz="1800" dirty="0">
              <a:solidFill>
                <a:schemeClr val="dk1"/>
              </a:solidFill>
              <a:latin typeface="Calibri"/>
              <a:ea typeface="Calibri"/>
              <a:cs typeface="Calibri"/>
              <a:sym typeface="Calibri"/>
            </a:endParaRPr>
          </a:p>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Episode</a:t>
            </a:r>
            <a:r>
              <a:rPr lang="pl-PL" sz="1800" b="1" dirty="0">
                <a:solidFill>
                  <a:schemeClr val="dk1"/>
                </a:solidFill>
                <a:latin typeface="Calibri"/>
                <a:ea typeface="Calibri"/>
                <a:cs typeface="Calibri"/>
                <a:sym typeface="Calibri"/>
              </a:rPr>
              <a:t> </a:t>
            </a:r>
            <a:r>
              <a:rPr lang="pl-PL" sz="1800" b="1" dirty="0" err="1">
                <a:solidFill>
                  <a:schemeClr val="dk1"/>
                </a:solidFill>
                <a:latin typeface="Calibri"/>
                <a:ea typeface="Calibri"/>
                <a:cs typeface="Calibri"/>
                <a:sym typeface="Calibri"/>
              </a:rPr>
              <a:t>ends</a:t>
            </a:r>
            <a:r>
              <a:rPr lang="pl-PL" sz="1800" b="1"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hits</a:t>
            </a:r>
            <a:r>
              <a:rPr lang="pl-PL" sz="1800" dirty="0">
                <a:solidFill>
                  <a:schemeClr val="dk1"/>
                </a:solidFill>
                <a:latin typeface="Calibri"/>
                <a:ea typeface="Calibri"/>
                <a:cs typeface="Calibri"/>
                <a:sym typeface="Calibri"/>
              </a:rPr>
              <a:t> and the sum of </a:t>
            </a:r>
            <a:r>
              <a:rPr lang="pl-PL" sz="1800" dirty="0" err="1">
                <a:solidFill>
                  <a:schemeClr val="dk1"/>
                </a:solidFill>
                <a:latin typeface="Calibri"/>
                <a:ea typeface="Calibri"/>
                <a:cs typeface="Calibri"/>
                <a:sym typeface="Calibri"/>
              </a:rPr>
              <a:t>hand</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exceeds</a:t>
            </a:r>
            <a:r>
              <a:rPr lang="pl-PL" sz="1800" dirty="0">
                <a:solidFill>
                  <a:schemeClr val="dk1"/>
                </a:solidFill>
                <a:latin typeface="Calibri"/>
                <a:ea typeface="Calibri"/>
                <a:cs typeface="Calibri"/>
                <a:sym typeface="Calibri"/>
              </a:rPr>
              <a:t> 21.</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sticks</a:t>
            </a:r>
            <a:r>
              <a:rPr lang="pl-PL" sz="1800"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a:ea typeface="Calibri"/>
                <a:cs typeface="Calibri"/>
                <a:sym typeface="Calibri"/>
              </a:rPr>
              <a:t>An</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ace</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will</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always</a:t>
            </a:r>
            <a:r>
              <a:rPr lang="pl-PL" sz="1800" dirty="0">
                <a:solidFill>
                  <a:schemeClr val="dk1"/>
                </a:solidFill>
                <a:latin typeface="Calibri"/>
                <a:ea typeface="Calibri"/>
                <a:cs typeface="Calibri"/>
                <a:sym typeface="Calibri"/>
              </a:rPr>
              <a:t> be </a:t>
            </a:r>
            <a:r>
              <a:rPr lang="pl-PL" sz="1800" dirty="0" err="1">
                <a:solidFill>
                  <a:schemeClr val="dk1"/>
                </a:solidFill>
                <a:latin typeface="Calibri"/>
                <a:ea typeface="Calibri"/>
                <a:cs typeface="Calibri"/>
                <a:sym typeface="Calibri"/>
              </a:rPr>
              <a:t>counted</a:t>
            </a:r>
            <a:r>
              <a:rPr lang="pl-PL" sz="1800" dirty="0">
                <a:solidFill>
                  <a:schemeClr val="dk1"/>
                </a:solidFill>
                <a:latin typeface="Calibri"/>
                <a:ea typeface="Calibri"/>
                <a:cs typeface="Calibri"/>
                <a:sym typeface="Calibri"/>
              </a:rPr>
              <a:t> as </a:t>
            </a:r>
            <a:r>
              <a:rPr lang="pl-PL" sz="1800" dirty="0" err="1">
                <a:solidFill>
                  <a:schemeClr val="dk1"/>
                </a:solidFill>
                <a:latin typeface="Calibri"/>
                <a:ea typeface="Calibri"/>
                <a:cs typeface="Calibri"/>
                <a:sym typeface="Calibri"/>
              </a:rPr>
              <a:t>usable</a:t>
            </a:r>
            <a:r>
              <a:rPr lang="pl-PL" sz="1800" dirty="0">
                <a:solidFill>
                  <a:schemeClr val="dk1"/>
                </a:solidFill>
                <a:latin typeface="Calibri"/>
                <a:ea typeface="Calibri"/>
                <a:cs typeface="Calibri"/>
                <a:sym typeface="Calibri"/>
              </a:rPr>
              <a:t> (11) </a:t>
            </a:r>
            <a:r>
              <a:rPr lang="pl-PL" sz="1800" dirty="0" err="1">
                <a:solidFill>
                  <a:schemeClr val="dk1"/>
                </a:solidFill>
                <a:latin typeface="Calibri"/>
                <a:ea typeface="Calibri"/>
                <a:cs typeface="Calibri"/>
                <a:sym typeface="Calibri"/>
              </a:rPr>
              <a:t>unless</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it</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busts</a:t>
            </a:r>
            <a:endParaRPr lang="pl-PL" sz="1800" dirty="0">
              <a:solidFill>
                <a:schemeClr val="dk1"/>
              </a:solidFill>
              <a:latin typeface="Calibri"/>
              <a:ea typeface="Calibri"/>
              <a:cs typeface="Calibri"/>
              <a:sym typeface="Calibri"/>
            </a:endParaRPr>
          </a:p>
          <a:p>
            <a:pPr marL="295275" marR="0" lvl="0" indent="280988" algn="l" rtl="0">
              <a:lnSpc>
                <a:spcPct val="150000"/>
              </a:lnSpc>
              <a:spcBef>
                <a:spcPts val="0"/>
              </a:spcBef>
              <a:spcAft>
                <a:spcPts val="0"/>
              </a:spcAft>
              <a:buClr>
                <a:schemeClr val="dk1"/>
              </a:buClr>
              <a:buSzPts val="1800"/>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a:t>
            </a:r>
          </a:p>
        </p:txBody>
      </p:sp>
    </p:spTree>
    <p:extLst>
      <p:ext uri="{BB962C8B-B14F-4D97-AF65-F5344CB8AC3E}">
        <p14:creationId xmlns:p14="http://schemas.microsoft.com/office/powerpoint/2010/main" val="876684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253AFFAB-CBDB-8CC7-B800-B9E7FE52E4E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7F060E44-A9D6-CF21-C8D2-50E3CCEED47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2A02EEB-D428-66AF-F3D1-0D4FB6FA3AEE}"/>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A49B4E4-CBE6-D274-6617-9DF507A5F3D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20B9359-08F8-1CBB-443F-FECE3199176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C9807A49-57F2-E15E-7D63-84EED91D1B0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AD74816-23AF-C8C9-77EB-15294C1BF8D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6</a:t>
            </a:r>
            <a:endParaRPr dirty="0"/>
          </a:p>
        </p:txBody>
      </p:sp>
      <p:cxnSp>
        <p:nvCxnSpPr>
          <p:cNvPr id="192" name="Google Shape;192;p3">
            <a:extLst>
              <a:ext uri="{FF2B5EF4-FFF2-40B4-BE49-F238E27FC236}">
                <a16:creationId xmlns:a16="http://schemas.microsoft.com/office/drawing/2014/main" id="{67701D07-94AC-B445-66E0-4F50D72C50F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C4DCE686-5C1C-BD06-46BE-40710113028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setup</a:t>
            </a:r>
            <a:endParaRPr dirty="0"/>
          </a:p>
        </p:txBody>
      </p:sp>
      <p:sp>
        <p:nvSpPr>
          <p:cNvPr id="6" name="Google Shape;210;p4">
            <a:extLst>
              <a:ext uri="{FF2B5EF4-FFF2-40B4-BE49-F238E27FC236}">
                <a16:creationId xmlns:a16="http://schemas.microsoft.com/office/drawing/2014/main" id="{CF1D94DA-0D32-FEAF-4384-1DE2D26AD6C5}"/>
              </a:ext>
            </a:extLst>
          </p:cNvPr>
          <p:cNvSpPr txBox="1"/>
          <p:nvPr/>
        </p:nvSpPr>
        <p:spPr>
          <a:xfrm>
            <a:off x="1583474" y="1289767"/>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We trained two different RL families on the same Blackjack environment to compare learning dynamics under identical rules.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tabular TD control with epsilon‑greedy exploration and two Q‑tables to reduce overestimation bias.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A2C‑GAE</a:t>
            </a:r>
            <a:r>
              <a:rPr lang="en-US" sz="1800" dirty="0">
                <a:latin typeface="Calibri" panose="020F0502020204030204" pitchFamily="34" charset="0"/>
                <a:cs typeface="Calibri" panose="020F0502020204030204" pitchFamily="34" charset="0"/>
              </a:rPr>
              <a:t>: neural actor‑critic trained from rollouts; uses value estimates and advantages for stable policy updates.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Reward shaping is applied only during training; evaluation always uses the true environment reward.</a:t>
            </a:r>
          </a:p>
        </p:txBody>
      </p:sp>
    </p:spTree>
    <p:extLst>
      <p:ext uri="{BB962C8B-B14F-4D97-AF65-F5344CB8AC3E}">
        <p14:creationId xmlns:p14="http://schemas.microsoft.com/office/powerpoint/2010/main" val="2331119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DC883EC-1699-F847-5246-1A2E68A2185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A40FECE1-3CE5-0BBC-47EA-7F6CEAE61443}"/>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40599D7-F3D1-6AE4-0742-7D43407ABA3D}"/>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A850FB6-8912-BFD3-701E-BD09BAA545E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8C176A3-42DC-CEF0-5278-2C21636530B7}"/>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77D47AFD-DB4D-A687-6882-B97AB78B71CF}"/>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93582D27-CB35-09B3-D284-77FBD6C43853}"/>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7</a:t>
            </a:r>
            <a:endParaRPr dirty="0"/>
          </a:p>
        </p:txBody>
      </p:sp>
      <p:cxnSp>
        <p:nvCxnSpPr>
          <p:cNvPr id="192" name="Google Shape;192;p3">
            <a:extLst>
              <a:ext uri="{FF2B5EF4-FFF2-40B4-BE49-F238E27FC236}">
                <a16:creationId xmlns:a16="http://schemas.microsoft.com/office/drawing/2014/main" id="{B6294452-6323-6E6C-E3BE-E5AF5C49B75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DF6938DB-1B4B-963D-68C9-08301F4E3E4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a:t>
            </a:r>
            <a:r>
              <a:rPr lang="pl-PL" sz="2400" b="1" dirty="0" err="1">
                <a:solidFill>
                  <a:schemeClr val="dk1"/>
                </a:solidFill>
                <a:latin typeface="Arial"/>
                <a:ea typeface="Arial"/>
                <a:cs typeface="Arial"/>
                <a:sym typeface="Arial"/>
              </a:rPr>
              <a:t>budget</a:t>
            </a:r>
            <a:r>
              <a:rPr lang="pl-PL" sz="2400" b="1" dirty="0">
                <a:solidFill>
                  <a:schemeClr val="dk1"/>
                </a:solidFill>
                <a:latin typeface="Arial"/>
                <a:ea typeface="Arial"/>
                <a:cs typeface="Arial"/>
                <a:sym typeface="Arial"/>
              </a:rPr>
              <a:t> &amp; </a:t>
            </a:r>
            <a:r>
              <a:rPr lang="pl-PL" sz="2400" b="1" dirty="0" err="1">
                <a:solidFill>
                  <a:schemeClr val="dk1"/>
                </a:solidFill>
                <a:latin typeface="Arial"/>
                <a:ea typeface="Arial"/>
                <a:cs typeface="Arial"/>
                <a:sym typeface="Arial"/>
              </a:rPr>
              <a:t>schedule</a:t>
            </a:r>
            <a:endParaRPr dirty="0"/>
          </a:p>
        </p:txBody>
      </p:sp>
      <p:sp>
        <p:nvSpPr>
          <p:cNvPr id="6" name="Google Shape;210;p4">
            <a:extLst>
              <a:ext uri="{FF2B5EF4-FFF2-40B4-BE49-F238E27FC236}">
                <a16:creationId xmlns:a16="http://schemas.microsoft.com/office/drawing/2014/main" id="{0658FD77-5284-500B-CB28-67ABD31251DE}"/>
              </a:ext>
            </a:extLst>
          </p:cNvPr>
          <p:cNvSpPr txBox="1"/>
          <p:nvPr/>
        </p:nvSpPr>
        <p:spPr>
          <a:xfrm>
            <a:off x="1583474" y="1289767"/>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trained for 200,000 episodes with tuned linear epsilon decay and periodic evaluation every 25k episodes.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 trained for 200,000 environment steps with 256-step rollouts and one policy update per rollout.</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Evaluation cadence: </a:t>
            </a: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every 25k episodes; A2C every 10 updates (~every 2,560 steps).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This keeps compute comparable while respecting each algorithm’s natural unit (episodes vs steps).</a:t>
            </a:r>
          </a:p>
        </p:txBody>
      </p:sp>
    </p:spTree>
    <p:extLst>
      <p:ext uri="{BB962C8B-B14F-4D97-AF65-F5344CB8AC3E}">
        <p14:creationId xmlns:p14="http://schemas.microsoft.com/office/powerpoint/2010/main" val="1082699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EEF0DF9-58BB-446E-4105-D84C409EB97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8984D3F-6AB2-2C69-AE22-37F41A069C4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011B392-6BFF-78DD-DA75-81108E749E6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05D0FE8-D45F-2D44-074C-4589EFDC5C7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643FAEC-1767-D4AF-EB3E-64652AD887F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BD2B85B9-BA93-8575-575F-2C1A26AAA0E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1166B80-6D28-649C-3038-252D6308C22B}"/>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8</a:t>
            </a:r>
            <a:endParaRPr dirty="0"/>
          </a:p>
        </p:txBody>
      </p:sp>
      <p:cxnSp>
        <p:nvCxnSpPr>
          <p:cNvPr id="192" name="Google Shape;192;p3">
            <a:extLst>
              <a:ext uri="{FF2B5EF4-FFF2-40B4-BE49-F238E27FC236}">
                <a16:creationId xmlns:a16="http://schemas.microsoft.com/office/drawing/2014/main" id="{B3136AE9-E526-3EBE-212B-B5FE96037A0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459DD5C-1B16-0CDA-8C3B-C721A33F577C}"/>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Model </a:t>
            </a:r>
            <a:r>
              <a:rPr lang="pl-PL" sz="2400" b="1" dirty="0" err="1">
                <a:solidFill>
                  <a:schemeClr val="dk1"/>
                </a:solidFill>
              </a:rPr>
              <a:t>size</a:t>
            </a:r>
            <a:r>
              <a:rPr lang="pl-PL" sz="2400" b="1" dirty="0">
                <a:solidFill>
                  <a:schemeClr val="dk1"/>
                </a:solidFill>
              </a:rPr>
              <a:t> / </a:t>
            </a:r>
            <a:r>
              <a:rPr lang="pl-PL" sz="2400" b="1" dirty="0" err="1">
                <a:solidFill>
                  <a:schemeClr val="dk1"/>
                </a:solidFill>
              </a:rPr>
              <a:t>Parameters</a:t>
            </a:r>
            <a:endParaRPr lang="pl-PL" sz="2400" b="1" dirty="0">
              <a:solidFill>
                <a:schemeClr val="dk1"/>
              </a:solidFill>
            </a:endParaRPr>
          </a:p>
        </p:txBody>
      </p:sp>
      <p:sp>
        <p:nvSpPr>
          <p:cNvPr id="6" name="Google Shape;210;p4">
            <a:extLst>
              <a:ext uri="{FF2B5EF4-FFF2-40B4-BE49-F238E27FC236}">
                <a16:creationId xmlns:a16="http://schemas.microsoft.com/office/drawing/2014/main" id="{2CF8152B-B114-28EA-1BBD-EEBF837974DC}"/>
              </a:ext>
            </a:extLst>
          </p:cNvPr>
          <p:cNvSpPr txBox="1"/>
          <p:nvPr/>
        </p:nvSpPr>
        <p:spPr>
          <a:xfrm>
            <a:off x="1583473" y="1314363"/>
            <a:ext cx="7141269" cy="3416279"/>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 network (</a:t>
            </a:r>
            <a:r>
              <a:rPr lang="en-US" sz="1800" dirty="0" err="1">
                <a:latin typeface="Calibri" panose="020F0502020204030204" pitchFamily="34" charset="0"/>
                <a:cs typeface="Calibri" panose="020F0502020204030204" pitchFamily="34" charset="0"/>
              </a:rPr>
              <a:t>obs_dim</a:t>
            </a:r>
            <a:r>
              <a:rPr lang="en-US" sz="1800" dirty="0">
                <a:latin typeface="Calibri" panose="020F0502020204030204" pitchFamily="34" charset="0"/>
                <a:cs typeface="Calibri" panose="020F0502020204030204" pitchFamily="34" charset="0"/>
              </a:rPr>
              <a:t>=43, hidden=128×128, actions=2) has ~22,531 trainable parameters.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Architecture: 2 shared hidden layers + separate policy and value heads.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is tabular: up to ~2,560 Q-values (640 states × 2 actions × 2 tables), though only visited states are stored.</a:t>
            </a:r>
          </a:p>
          <a:p>
            <a:pPr>
              <a:lnSpc>
                <a:spcPct val="150000"/>
              </a:lnSpc>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51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65D65DDF-D517-ADD5-A7C9-9CA176CF0AFB}"/>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675D3E8-5995-C6C0-29CF-809A8450D34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826F92A8-5B72-6AB5-45A7-38035505203C}"/>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83AC69AD-7CF8-7D49-7EDF-E633132BAB7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2D8988E1-65D9-EB14-43B3-DB54789468A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E917A13-6CF9-09E5-E350-7F64029BCA46}"/>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94D3E44-C739-D7B4-6546-175E41DF295A}"/>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9</a:t>
            </a:r>
            <a:endParaRPr dirty="0"/>
          </a:p>
        </p:txBody>
      </p:sp>
      <p:cxnSp>
        <p:nvCxnSpPr>
          <p:cNvPr id="192" name="Google Shape;192;p3">
            <a:extLst>
              <a:ext uri="{FF2B5EF4-FFF2-40B4-BE49-F238E27FC236}">
                <a16:creationId xmlns:a16="http://schemas.microsoft.com/office/drawing/2014/main" id="{33C40589-6F1D-D2B9-16E2-D992C316FEE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B17ADF1-0AD2-399B-4B12-1CD824EAA4DA}"/>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Evaluation </a:t>
            </a:r>
            <a:r>
              <a:rPr lang="pl-PL" sz="2400" b="1" dirty="0" err="1">
                <a:solidFill>
                  <a:schemeClr val="dk1"/>
                </a:solidFill>
              </a:rPr>
              <a:t>p</a:t>
            </a:r>
            <a:r>
              <a:rPr lang="pl-PL" sz="2400" b="1" dirty="0" err="1">
                <a:solidFill>
                  <a:schemeClr val="dk1"/>
                </a:solidFill>
                <a:latin typeface="Arial"/>
                <a:ea typeface="Arial"/>
                <a:cs typeface="Arial"/>
                <a:sym typeface="Arial"/>
              </a:rPr>
              <a:t>rotocol</a:t>
            </a:r>
            <a:endParaRPr dirty="0"/>
          </a:p>
        </p:txBody>
      </p:sp>
      <p:sp>
        <p:nvSpPr>
          <p:cNvPr id="6" name="Google Shape;210;p4">
            <a:extLst>
              <a:ext uri="{FF2B5EF4-FFF2-40B4-BE49-F238E27FC236}">
                <a16:creationId xmlns:a16="http://schemas.microsoft.com/office/drawing/2014/main" id="{8848CFD8-0336-0188-6C33-6FAA0D401080}"/>
              </a:ext>
            </a:extLst>
          </p:cNvPr>
          <p:cNvSpPr txBox="1"/>
          <p:nvPr/>
        </p:nvSpPr>
        <p:spPr>
          <a:xfrm>
            <a:off x="1583474" y="1314363"/>
            <a:ext cx="6784670" cy="4247276"/>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Evaluation uses the true (unshaped) reward, regardless of reward shaping during training.</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Policies are evaluated greedily (no exploration) to measure final decision quality.</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Each evaluation runs 10,000 episodes for stable statistics.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Metrics computed: mean return, win/draw/loss rate, and mean episode length.</a:t>
            </a:r>
          </a:p>
        </p:txBody>
      </p:sp>
    </p:spTree>
    <p:extLst>
      <p:ext uri="{BB962C8B-B14F-4D97-AF65-F5344CB8AC3E}">
        <p14:creationId xmlns:p14="http://schemas.microsoft.com/office/powerpoint/2010/main" val="39280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5609AF5-2EDE-10CA-301F-015FA2D8B018}"/>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9CE4BE1C-C689-5824-5012-F6DBA6A6291E}"/>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4781555-FBFB-7C90-69D6-C02196D6F7A7}"/>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9F417180-7A09-AA74-C36D-877422E0CCA0}"/>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27854B55-1D67-962F-84C3-451B8F28910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C1C10F9-E91A-119F-2912-280800AFDA2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722ACB84-F89E-4D46-08B5-DEBB6BE53A0E}"/>
              </a:ext>
            </a:extLst>
          </p:cNvPr>
          <p:cNvSpPr txBox="1"/>
          <p:nvPr/>
        </p:nvSpPr>
        <p:spPr>
          <a:xfrm>
            <a:off x="576527" y="6042029"/>
            <a:ext cx="39298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10</a:t>
            </a:r>
            <a:endParaRPr dirty="0"/>
          </a:p>
        </p:txBody>
      </p:sp>
      <p:cxnSp>
        <p:nvCxnSpPr>
          <p:cNvPr id="192" name="Google Shape;192;p3">
            <a:extLst>
              <a:ext uri="{FF2B5EF4-FFF2-40B4-BE49-F238E27FC236}">
                <a16:creationId xmlns:a16="http://schemas.microsoft.com/office/drawing/2014/main" id="{AF1CCC00-E1D4-64E4-54BD-B6F98913514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A6FF3793-D811-EC52-A04D-77D235883287}"/>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Reward</a:t>
            </a:r>
            <a:r>
              <a:rPr lang="pl-PL" sz="2400" b="1" dirty="0">
                <a:solidFill>
                  <a:schemeClr val="dk1"/>
                </a:solidFill>
              </a:rPr>
              <a:t> </a:t>
            </a:r>
            <a:r>
              <a:rPr lang="pl-PL" sz="2400" b="1" dirty="0" err="1">
                <a:solidFill>
                  <a:schemeClr val="dk1"/>
                </a:solidFill>
              </a:rPr>
              <a:t>shaping</a:t>
            </a:r>
            <a:r>
              <a:rPr lang="pl-PL" sz="2400" b="1" dirty="0">
                <a:solidFill>
                  <a:schemeClr val="dk1"/>
                </a:solidFill>
              </a:rPr>
              <a:t> </a:t>
            </a:r>
            <a:r>
              <a:rPr lang="pl-PL" sz="2400" b="1" dirty="0" err="1">
                <a:solidFill>
                  <a:schemeClr val="dk1"/>
                </a:solidFill>
              </a:rPr>
              <a:t>choices</a:t>
            </a:r>
            <a:endParaRPr dirty="0"/>
          </a:p>
        </p:txBody>
      </p:sp>
      <p:sp>
        <p:nvSpPr>
          <p:cNvPr id="6" name="Google Shape;210;p4">
            <a:extLst>
              <a:ext uri="{FF2B5EF4-FFF2-40B4-BE49-F238E27FC236}">
                <a16:creationId xmlns:a16="http://schemas.microsoft.com/office/drawing/2014/main" id="{47FAB7D2-76BA-245D-6586-E0FC5736CA25}"/>
              </a:ext>
            </a:extLst>
          </p:cNvPr>
          <p:cNvSpPr txBox="1"/>
          <p:nvPr/>
        </p:nvSpPr>
        <p:spPr>
          <a:xfrm>
            <a:off x="1583474" y="1314363"/>
            <a:ext cx="6784670" cy="4247276"/>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r0 baseline </a:t>
            </a:r>
            <a:r>
              <a:rPr lang="en-US" sz="1800" dirty="0">
                <a:latin typeface="Calibri" panose="020F0502020204030204" pitchFamily="34" charset="0"/>
                <a:cs typeface="Calibri" panose="020F0502020204030204" pitchFamily="34" charset="0"/>
              </a:rPr>
              <a:t>uses the original Blackjack rewards (+1 win, 0 draw, −1 loss) with no shaping</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r1 step penalty</a:t>
            </a:r>
            <a:r>
              <a:rPr lang="en-US" sz="1800" dirty="0">
                <a:latin typeface="Calibri" panose="020F0502020204030204" pitchFamily="34" charset="0"/>
                <a:cs typeface="Calibri" panose="020F0502020204030204" pitchFamily="34" charset="0"/>
              </a:rPr>
              <a:t> subtracts 0.01 on each non‑terminal step, encouraging shorter episodes and more decisive play when the expected benefit of hitting is low.</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r2 bust penalty </a:t>
            </a:r>
            <a:r>
              <a:rPr lang="en-US" sz="1800" dirty="0">
                <a:latin typeface="Calibri" panose="020F0502020204030204" pitchFamily="34" charset="0"/>
                <a:cs typeface="Calibri" panose="020F0502020204030204" pitchFamily="34" charset="0"/>
              </a:rPr>
              <a:t>subtracts an extra 0.5 on terminal losses, explicitly discouraging risky actions that increase bust probability.</a:t>
            </a:r>
          </a:p>
          <a:p>
            <a:pPr>
              <a:lnSpc>
                <a:spcPct val="150000"/>
              </a:lnSpc>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8809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B70FA6F5-3713-6414-CADE-9D80FE5ECBBA}"/>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247474A2-9413-2BF0-57E6-4FCC7ED6CBDE}"/>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AB5B38A-A371-1BA8-4869-80254C6D45E1}"/>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DE2A7BA-303A-7D0E-09A0-C61B1DB6A3A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E407D17-E0A7-C967-9ABB-5726326F7C7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ED17D4D-9218-04A5-291A-ACA511196B7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ECE5B6E-7406-FC96-2AE0-F0CD8FEABB96}"/>
              </a:ext>
            </a:extLst>
          </p:cNvPr>
          <p:cNvSpPr txBox="1"/>
          <p:nvPr/>
        </p:nvSpPr>
        <p:spPr>
          <a:xfrm>
            <a:off x="576527" y="6042029"/>
            <a:ext cx="39298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11</a:t>
            </a:r>
            <a:endParaRPr dirty="0"/>
          </a:p>
        </p:txBody>
      </p:sp>
      <p:cxnSp>
        <p:nvCxnSpPr>
          <p:cNvPr id="192" name="Google Shape;192;p3">
            <a:extLst>
              <a:ext uri="{FF2B5EF4-FFF2-40B4-BE49-F238E27FC236}">
                <a16:creationId xmlns:a16="http://schemas.microsoft.com/office/drawing/2014/main" id="{8EBCCB2C-FA11-5DE3-6610-73A7FD61F129}"/>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65D82539-E75A-B971-E0DC-7E80FA350B4C}"/>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latin typeface="Arial"/>
                <a:ea typeface="Arial"/>
                <a:cs typeface="Arial"/>
                <a:sym typeface="Arial"/>
              </a:rPr>
              <a:t>Hyperparameters</a:t>
            </a:r>
            <a:r>
              <a:rPr lang="pl-PL" sz="2400" b="1" dirty="0">
                <a:solidFill>
                  <a:schemeClr val="dk1"/>
                </a:solidFill>
                <a:latin typeface="Arial"/>
                <a:ea typeface="Arial"/>
                <a:cs typeface="Arial"/>
                <a:sym typeface="Arial"/>
              </a:rPr>
              <a:t> </a:t>
            </a:r>
            <a:r>
              <a:rPr lang="pl-PL" sz="2400" b="1" dirty="0" err="1">
                <a:solidFill>
                  <a:schemeClr val="dk1"/>
                </a:solidFill>
                <a:latin typeface="Arial"/>
                <a:ea typeface="Arial"/>
                <a:cs typeface="Arial"/>
                <a:sym typeface="Arial"/>
              </a:rPr>
              <a:t>tuning</a:t>
            </a:r>
            <a:endParaRPr dirty="0"/>
          </a:p>
        </p:txBody>
      </p:sp>
      <p:sp>
        <p:nvSpPr>
          <p:cNvPr id="6" name="Google Shape;210;p4">
            <a:extLst>
              <a:ext uri="{FF2B5EF4-FFF2-40B4-BE49-F238E27FC236}">
                <a16:creationId xmlns:a16="http://schemas.microsoft.com/office/drawing/2014/main" id="{77E3C349-3F9C-8C4A-D5DE-B8E442A35448}"/>
              </a:ext>
            </a:extLst>
          </p:cNvPr>
          <p:cNvSpPr txBox="1"/>
          <p:nvPr/>
        </p:nvSpPr>
        <p:spPr>
          <a:xfrm>
            <a:off x="1583474" y="1314363"/>
            <a:ext cx="6784670" cy="3416279"/>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We tuned separately on r0, r1, and r2 for both algorithms, so each reward mode has its own best hyperparameters.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That avoids optimizing for the wrong objective when shaping changes incentives.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Final approach: use the best tuned config per reward mode for the 3‑seed training runs and analysis.</a:t>
            </a:r>
          </a:p>
        </p:txBody>
      </p:sp>
    </p:spTree>
    <p:extLst>
      <p:ext uri="{BB962C8B-B14F-4D97-AF65-F5344CB8AC3E}">
        <p14:creationId xmlns:p14="http://schemas.microsoft.com/office/powerpoint/2010/main" val="9248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50DADE3B-FB44-BA3B-95A9-BD74CD21D5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3B52A6A-1A67-AA4B-B0DF-527AE1BBD85C}"/>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BB008BC9-32D8-B0FA-DC3A-C2DAF36BE7F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4416D55-2A57-6E57-3A94-DE565A6C2FF2}"/>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C5A02A1-9348-1142-5317-0C60AFCC433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4EC5D19-2C9C-5D8F-23B5-BDA11D347A9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B03A608-3C6C-2D98-37E2-416C110CF433}"/>
              </a:ext>
            </a:extLst>
          </p:cNvPr>
          <p:cNvSpPr txBox="1"/>
          <p:nvPr/>
        </p:nvSpPr>
        <p:spPr>
          <a:xfrm>
            <a:off x="576527" y="6042029"/>
            <a:ext cx="39298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12</a:t>
            </a:r>
            <a:endParaRPr dirty="0"/>
          </a:p>
        </p:txBody>
      </p:sp>
      <p:cxnSp>
        <p:nvCxnSpPr>
          <p:cNvPr id="192" name="Google Shape;192;p3">
            <a:extLst>
              <a:ext uri="{FF2B5EF4-FFF2-40B4-BE49-F238E27FC236}">
                <a16:creationId xmlns:a16="http://schemas.microsoft.com/office/drawing/2014/main" id="{03654BF3-2946-AD1D-80FE-F3786B134CF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1FAC025B-82F7-8F04-92B5-AE80FC60817E}"/>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Hyperparameter</a:t>
            </a:r>
            <a:r>
              <a:rPr lang="pl-PL" sz="2400" b="1" dirty="0">
                <a:solidFill>
                  <a:schemeClr val="dk1"/>
                </a:solidFill>
              </a:rPr>
              <a:t> </a:t>
            </a:r>
            <a:r>
              <a:rPr lang="pl-PL" sz="2400" b="1" dirty="0" err="1">
                <a:solidFill>
                  <a:schemeClr val="dk1"/>
                </a:solidFill>
              </a:rPr>
              <a:t>tuning</a:t>
            </a:r>
            <a:r>
              <a:rPr lang="pl-PL" sz="2400" b="1" dirty="0">
                <a:solidFill>
                  <a:schemeClr val="dk1"/>
                </a:solidFill>
              </a:rPr>
              <a:t> </a:t>
            </a:r>
            <a:r>
              <a:rPr lang="pl-PL" sz="2400" b="1" dirty="0" err="1">
                <a:solidFill>
                  <a:schemeClr val="dk1"/>
                </a:solidFill>
              </a:rPr>
              <a:t>continuation</a:t>
            </a:r>
            <a:endParaRPr dirty="0"/>
          </a:p>
        </p:txBody>
      </p:sp>
      <p:sp>
        <p:nvSpPr>
          <p:cNvPr id="6" name="Google Shape;210;p4">
            <a:extLst>
              <a:ext uri="{FF2B5EF4-FFF2-40B4-BE49-F238E27FC236}">
                <a16:creationId xmlns:a16="http://schemas.microsoft.com/office/drawing/2014/main" id="{45C5EC24-DE62-994F-F266-3B2F17806CAB}"/>
              </a:ext>
            </a:extLst>
          </p:cNvPr>
          <p:cNvSpPr txBox="1"/>
          <p:nvPr/>
        </p:nvSpPr>
        <p:spPr>
          <a:xfrm>
            <a:off x="1583474" y="1231060"/>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Strategy: Both </a:t>
            </a: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and A2C use grid search over discrete hyperparameter grids.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96 configurations tested (4×3×2×4), each evaluated across 3 seeds.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 96 configurations tested (4×3×2×2×2), each evaluated across 3 seeds.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Best config per reward mode is selected by mean eval return across seeds.</a:t>
            </a:r>
          </a:p>
        </p:txBody>
      </p:sp>
    </p:spTree>
    <p:extLst>
      <p:ext uri="{BB962C8B-B14F-4D97-AF65-F5344CB8AC3E}">
        <p14:creationId xmlns:p14="http://schemas.microsoft.com/office/powerpoint/2010/main" val="636754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A660C8E-1CD3-01D4-79FF-00A9969531A2}"/>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F0AB3451-0691-8DE4-9813-17DF8C98B7D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D08C41E0-0A43-C894-6D91-04F1F021E5E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8FE6144D-478C-DCDA-B14A-0A510013597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B87EB1F-C787-1679-4297-B4E18DC6738A}"/>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4F87FD9A-8F30-0FB1-21F8-308010975FFE}"/>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DE05CF4C-9CD5-217A-C983-B73DF5D96683}"/>
              </a:ext>
            </a:extLst>
          </p:cNvPr>
          <p:cNvSpPr txBox="1"/>
          <p:nvPr/>
        </p:nvSpPr>
        <p:spPr>
          <a:xfrm>
            <a:off x="576527" y="6042029"/>
            <a:ext cx="39298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13</a:t>
            </a:r>
            <a:endParaRPr dirty="0"/>
          </a:p>
        </p:txBody>
      </p:sp>
      <p:cxnSp>
        <p:nvCxnSpPr>
          <p:cNvPr id="192" name="Google Shape;192;p3">
            <a:extLst>
              <a:ext uri="{FF2B5EF4-FFF2-40B4-BE49-F238E27FC236}">
                <a16:creationId xmlns:a16="http://schemas.microsoft.com/office/drawing/2014/main" id="{7F416F47-1382-2F03-783F-1E943AF30216}"/>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FB1314E6-466E-AD21-5B66-53447EB0EFDF}"/>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Hyperparameter</a:t>
            </a:r>
            <a:r>
              <a:rPr lang="pl-PL" sz="2400" b="1" dirty="0">
                <a:solidFill>
                  <a:schemeClr val="dk1"/>
                </a:solidFill>
              </a:rPr>
              <a:t> </a:t>
            </a:r>
            <a:r>
              <a:rPr lang="pl-PL" sz="2400" b="1" dirty="0" err="1">
                <a:solidFill>
                  <a:schemeClr val="dk1"/>
                </a:solidFill>
              </a:rPr>
              <a:t>tuning</a:t>
            </a:r>
            <a:r>
              <a:rPr lang="pl-PL" sz="2400" b="1" dirty="0">
                <a:solidFill>
                  <a:schemeClr val="dk1"/>
                </a:solidFill>
              </a:rPr>
              <a:t> </a:t>
            </a:r>
            <a:r>
              <a:rPr lang="pl-PL" sz="2400" b="1" dirty="0" err="1">
                <a:solidFill>
                  <a:schemeClr val="dk1"/>
                </a:solidFill>
              </a:rPr>
              <a:t>cont’d</a:t>
            </a:r>
            <a:endParaRPr dirty="0"/>
          </a:p>
        </p:txBody>
      </p:sp>
      <p:sp>
        <p:nvSpPr>
          <p:cNvPr id="6" name="Google Shape;210;p4">
            <a:extLst>
              <a:ext uri="{FF2B5EF4-FFF2-40B4-BE49-F238E27FC236}">
                <a16:creationId xmlns:a16="http://schemas.microsoft.com/office/drawing/2014/main" id="{38F5E3BE-A805-3910-7798-CD1AE1836BEE}"/>
              </a:ext>
            </a:extLst>
          </p:cNvPr>
          <p:cNvSpPr txBox="1"/>
          <p:nvPr/>
        </p:nvSpPr>
        <p:spPr>
          <a:xfrm>
            <a:off x="1619238" y="1289767"/>
            <a:ext cx="7067359"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Final </a:t>
            </a:r>
            <a:r>
              <a:rPr lang="en-US" sz="1800" b="1" dirty="0" err="1">
                <a:latin typeface="Calibri" panose="020F0502020204030204" pitchFamily="34" charset="0"/>
                <a:cs typeface="Calibri" panose="020F0502020204030204" pitchFamily="34" charset="0"/>
              </a:rPr>
              <a:t>DoubleQ</a:t>
            </a:r>
            <a:r>
              <a:rPr lang="en-US" sz="1800" b="1" dirty="0">
                <a:latin typeface="Calibri" panose="020F0502020204030204" pitchFamily="34" charset="0"/>
                <a:cs typeface="Calibri" panose="020F0502020204030204" pitchFamily="34" charset="0"/>
              </a:rPr>
              <a:t> configs:</a:t>
            </a:r>
          </a:p>
          <a:p>
            <a:pPr marL="573088" indent="-225425">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r0</a:t>
            </a:r>
            <a:r>
              <a:rPr lang="en-US" sz="1800" dirty="0">
                <a:latin typeface="Calibri" panose="020F0502020204030204" pitchFamily="34" charset="0"/>
                <a:cs typeface="Calibri" panose="020F0502020204030204" pitchFamily="34" charset="0"/>
              </a:rPr>
              <a:t>: alpha=0.02, gamma=0.95, </a:t>
            </a:r>
            <a:r>
              <a:rPr lang="en-US" sz="1800" dirty="0" err="1">
                <a:latin typeface="Calibri" panose="020F0502020204030204" pitchFamily="34" charset="0"/>
                <a:cs typeface="Calibri" panose="020F0502020204030204" pitchFamily="34" charset="0"/>
              </a:rPr>
              <a:t>eps_end</a:t>
            </a:r>
            <a:r>
              <a:rPr lang="en-US" sz="1800" dirty="0">
                <a:latin typeface="Calibri" panose="020F0502020204030204" pitchFamily="34" charset="0"/>
                <a:cs typeface="Calibri" panose="020F0502020204030204" pitchFamily="34" charset="0"/>
              </a:rPr>
              <a:t>=0.05, </a:t>
            </a:r>
            <a:r>
              <a:rPr lang="en-US" sz="1800" dirty="0" err="1">
                <a:latin typeface="Calibri" panose="020F0502020204030204" pitchFamily="34" charset="0"/>
                <a:cs typeface="Calibri" panose="020F0502020204030204" pitchFamily="34" charset="0"/>
              </a:rPr>
              <a:t>eps_decay</a:t>
            </a:r>
            <a:r>
              <a:rPr lang="en-US" sz="1800" dirty="0">
                <a:latin typeface="Calibri" panose="020F0502020204030204" pitchFamily="34" charset="0"/>
                <a:cs typeface="Calibri" panose="020F0502020204030204" pitchFamily="34" charset="0"/>
              </a:rPr>
              <a:t>=100k  </a:t>
            </a:r>
          </a:p>
          <a:p>
            <a:pPr marL="573088" indent="-225425">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r1</a:t>
            </a:r>
            <a:r>
              <a:rPr lang="en-US" sz="1800" dirty="0">
                <a:latin typeface="Calibri" panose="020F0502020204030204" pitchFamily="34" charset="0"/>
                <a:cs typeface="Calibri" panose="020F0502020204030204" pitchFamily="34" charset="0"/>
              </a:rPr>
              <a:t>: alpha=0.02, gamma=1.00, </a:t>
            </a:r>
            <a:r>
              <a:rPr lang="en-US" sz="1800" dirty="0" err="1">
                <a:latin typeface="Calibri" panose="020F0502020204030204" pitchFamily="34" charset="0"/>
                <a:cs typeface="Calibri" panose="020F0502020204030204" pitchFamily="34" charset="0"/>
              </a:rPr>
              <a:t>eps_end</a:t>
            </a:r>
            <a:r>
              <a:rPr lang="en-US" sz="1800" dirty="0">
                <a:latin typeface="Calibri" panose="020F0502020204030204" pitchFamily="34" charset="0"/>
                <a:cs typeface="Calibri" panose="020F0502020204030204" pitchFamily="34" charset="0"/>
              </a:rPr>
              <a:t>=0.05, </a:t>
            </a:r>
            <a:r>
              <a:rPr lang="en-US" sz="1800" dirty="0" err="1">
                <a:latin typeface="Calibri" panose="020F0502020204030204" pitchFamily="34" charset="0"/>
                <a:cs typeface="Calibri" panose="020F0502020204030204" pitchFamily="34" charset="0"/>
              </a:rPr>
              <a:t>eps_decay</a:t>
            </a:r>
            <a:r>
              <a:rPr lang="en-US" sz="1800" dirty="0">
                <a:latin typeface="Calibri" panose="020F0502020204030204" pitchFamily="34" charset="0"/>
                <a:cs typeface="Calibri" panose="020F0502020204030204" pitchFamily="34" charset="0"/>
              </a:rPr>
              <a:t>=200k  </a:t>
            </a:r>
          </a:p>
          <a:p>
            <a:pPr marL="573088" indent="-225425">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r2</a:t>
            </a:r>
            <a:r>
              <a:rPr lang="en-US" sz="1800" dirty="0">
                <a:latin typeface="Calibri" panose="020F0502020204030204" pitchFamily="34" charset="0"/>
                <a:cs typeface="Calibri" panose="020F0502020204030204" pitchFamily="34" charset="0"/>
              </a:rPr>
              <a:t>: alpha=0.02, gamma=0.95, </a:t>
            </a:r>
            <a:r>
              <a:rPr lang="en-US" sz="1800" dirty="0" err="1">
                <a:latin typeface="Calibri" panose="020F0502020204030204" pitchFamily="34" charset="0"/>
                <a:cs typeface="Calibri" panose="020F0502020204030204" pitchFamily="34" charset="0"/>
              </a:rPr>
              <a:t>eps_end</a:t>
            </a:r>
            <a:r>
              <a:rPr lang="en-US" sz="1800" dirty="0">
                <a:latin typeface="Calibri" panose="020F0502020204030204" pitchFamily="34" charset="0"/>
                <a:cs typeface="Calibri" panose="020F0502020204030204" pitchFamily="34" charset="0"/>
              </a:rPr>
              <a:t>=0.01, </a:t>
            </a:r>
            <a:r>
              <a:rPr lang="en-US" sz="1800" dirty="0" err="1">
                <a:latin typeface="Calibri" panose="020F0502020204030204" pitchFamily="34" charset="0"/>
                <a:cs typeface="Calibri" panose="020F0502020204030204" pitchFamily="34" charset="0"/>
              </a:rPr>
              <a:t>eps_decay</a:t>
            </a:r>
            <a:r>
              <a:rPr lang="en-US" sz="1800" dirty="0">
                <a:latin typeface="Calibri" panose="020F0502020204030204" pitchFamily="34" charset="0"/>
                <a:cs typeface="Calibri" panose="020F0502020204030204" pitchFamily="34" charset="0"/>
              </a:rPr>
              <a:t>=300k  </a:t>
            </a: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Final A2C configs:</a:t>
            </a:r>
          </a:p>
          <a:p>
            <a:pPr marL="573088" indent="-225425">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r0</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lr</a:t>
            </a:r>
            <a:r>
              <a:rPr lang="en-US" sz="1800" dirty="0">
                <a:latin typeface="Calibri" panose="020F0502020204030204" pitchFamily="34" charset="0"/>
                <a:cs typeface="Calibri" panose="020F0502020204030204" pitchFamily="34" charset="0"/>
              </a:rPr>
              <a:t>=1e‑3, gamma=0.99, </a:t>
            </a:r>
            <a:r>
              <a:rPr lang="en-US" sz="1800" dirty="0" err="1">
                <a:latin typeface="Calibri" panose="020F0502020204030204" pitchFamily="34" charset="0"/>
                <a:cs typeface="Calibri" panose="020F0502020204030204" pitchFamily="34" charset="0"/>
              </a:rPr>
              <a:t>gae_lambda</a:t>
            </a:r>
            <a:r>
              <a:rPr lang="en-US" sz="1800" dirty="0">
                <a:latin typeface="Calibri" panose="020F0502020204030204" pitchFamily="34" charset="0"/>
                <a:cs typeface="Calibri" panose="020F0502020204030204" pitchFamily="34" charset="0"/>
              </a:rPr>
              <a:t>=0.97, entropy=0.01, hidden=128×128  </a:t>
            </a:r>
          </a:p>
          <a:p>
            <a:pPr marL="573088" indent="-225425">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r1</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lr</a:t>
            </a:r>
            <a:r>
              <a:rPr lang="en-US" sz="1800" dirty="0">
                <a:latin typeface="Calibri" panose="020F0502020204030204" pitchFamily="34" charset="0"/>
                <a:cs typeface="Calibri" panose="020F0502020204030204" pitchFamily="34" charset="0"/>
              </a:rPr>
              <a:t>=1e‑3, gamma=0.99, </a:t>
            </a:r>
            <a:r>
              <a:rPr lang="en-US" sz="1800" dirty="0" err="1">
                <a:latin typeface="Calibri" panose="020F0502020204030204" pitchFamily="34" charset="0"/>
                <a:cs typeface="Calibri" panose="020F0502020204030204" pitchFamily="34" charset="0"/>
              </a:rPr>
              <a:t>gae_lambda</a:t>
            </a:r>
            <a:r>
              <a:rPr lang="en-US" sz="1800" dirty="0">
                <a:latin typeface="Calibri" panose="020F0502020204030204" pitchFamily="34" charset="0"/>
                <a:cs typeface="Calibri" panose="020F0502020204030204" pitchFamily="34" charset="0"/>
              </a:rPr>
              <a:t>=0.97, entropy=0.01, hidden=64×64  </a:t>
            </a:r>
          </a:p>
          <a:p>
            <a:pPr marL="573088" indent="-225425">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r2</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lr</a:t>
            </a:r>
            <a:r>
              <a:rPr lang="en-US" sz="1800" dirty="0">
                <a:latin typeface="Calibri" panose="020F0502020204030204" pitchFamily="34" charset="0"/>
                <a:cs typeface="Calibri" panose="020F0502020204030204" pitchFamily="34" charset="0"/>
              </a:rPr>
              <a:t>=1e‑3, gamma=0.99, </a:t>
            </a:r>
            <a:r>
              <a:rPr lang="en-US" sz="1800" dirty="0" err="1">
                <a:latin typeface="Calibri" panose="020F0502020204030204" pitchFamily="34" charset="0"/>
                <a:cs typeface="Calibri" panose="020F0502020204030204" pitchFamily="34" charset="0"/>
              </a:rPr>
              <a:t>gae_lambda</a:t>
            </a:r>
            <a:r>
              <a:rPr lang="en-US" sz="1800" dirty="0">
                <a:latin typeface="Calibri" panose="020F0502020204030204" pitchFamily="34" charset="0"/>
                <a:cs typeface="Calibri" panose="020F0502020204030204" pitchFamily="34" charset="0"/>
              </a:rPr>
              <a:t>=0.90, entropy=0.01, hidden=64×64  </a:t>
            </a:r>
          </a:p>
        </p:txBody>
      </p:sp>
    </p:spTree>
    <p:extLst>
      <p:ext uri="{BB962C8B-B14F-4D97-AF65-F5344CB8AC3E}">
        <p14:creationId xmlns:p14="http://schemas.microsoft.com/office/powerpoint/2010/main" val="991497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AC1A458-E528-A513-D277-94E9D1B1CA6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C6C2164-A800-1DB2-F77C-DA3429325DD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39FF3EB-1980-1449-369C-017CD7DDF553}"/>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518C5F4E-6DAD-B8AC-9AC1-DF49889F9C6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6205F6E-9974-53CA-8709-E3D421F666C5}"/>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48E8C79C-C332-CB89-3AFD-7C89805D7F1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EADFFF05-086B-D29B-E6D6-B761B4A38DF0}"/>
              </a:ext>
            </a:extLst>
          </p:cNvPr>
          <p:cNvSpPr txBox="1"/>
          <p:nvPr/>
        </p:nvSpPr>
        <p:spPr>
          <a:xfrm>
            <a:off x="576527" y="6042029"/>
            <a:ext cx="39299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14</a:t>
            </a:r>
            <a:endParaRPr dirty="0"/>
          </a:p>
        </p:txBody>
      </p:sp>
      <p:cxnSp>
        <p:nvCxnSpPr>
          <p:cNvPr id="192" name="Google Shape;192;p3">
            <a:extLst>
              <a:ext uri="{FF2B5EF4-FFF2-40B4-BE49-F238E27FC236}">
                <a16:creationId xmlns:a16="http://schemas.microsoft.com/office/drawing/2014/main" id="{9E39BA66-0C98-3A9C-49CF-DB061572CF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2B853D0-9E5F-6FEC-CC76-98892279E2B2}"/>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DoubleQ</a:t>
            </a:r>
            <a:r>
              <a:rPr lang="pl-PL" sz="2400" b="1" dirty="0">
                <a:solidFill>
                  <a:schemeClr val="dk1"/>
                </a:solidFill>
              </a:rPr>
              <a:t> learning </a:t>
            </a:r>
            <a:r>
              <a:rPr lang="pl-PL" sz="2400" b="1" dirty="0" err="1">
                <a:solidFill>
                  <a:schemeClr val="dk1"/>
                </a:solidFill>
              </a:rPr>
              <a:t>curve</a:t>
            </a:r>
            <a:endParaRPr dirty="0"/>
          </a:p>
        </p:txBody>
      </p:sp>
      <p:pic>
        <p:nvPicPr>
          <p:cNvPr id="4" name="Picture 3" descr="A graph of lines and numbers&#10;&#10;AI-generated content may be incorrect.">
            <a:extLst>
              <a:ext uri="{FF2B5EF4-FFF2-40B4-BE49-F238E27FC236}">
                <a16:creationId xmlns:a16="http://schemas.microsoft.com/office/drawing/2014/main" id="{52C471E5-A4AC-F3E1-832C-5B2AE695B7F0}"/>
              </a:ext>
            </a:extLst>
          </p:cNvPr>
          <p:cNvPicPr>
            <a:picLocks noChangeAspect="1"/>
          </p:cNvPicPr>
          <p:nvPr/>
        </p:nvPicPr>
        <p:blipFill>
          <a:blip r:embed="rId4"/>
          <a:stretch>
            <a:fillRect/>
          </a:stretch>
        </p:blipFill>
        <p:spPr>
          <a:xfrm>
            <a:off x="1720448" y="1371120"/>
            <a:ext cx="6808603" cy="4243556"/>
          </a:xfrm>
          <a:prstGeom prst="rect">
            <a:avLst/>
          </a:prstGeom>
        </p:spPr>
      </p:pic>
    </p:spTree>
    <p:extLst>
      <p:ext uri="{BB962C8B-B14F-4D97-AF65-F5344CB8AC3E}">
        <p14:creationId xmlns:p14="http://schemas.microsoft.com/office/powerpoint/2010/main" val="2651386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C917D12B-925D-5243-9516-5B7EA1F071A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80C73DE8-C9F8-C633-2E49-915DAD31E30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FD36C4E-2FC7-83CA-A7D3-6FE2A63E7FD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DB608787-1A03-C253-9462-D78D19EE5E5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ACD2004-89E2-FC39-795D-C4104065262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B9A9F94-8D8B-9847-449F-B9A7ED825EB3}"/>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D0DB55BD-C94F-4049-E3BA-CD2F08C5E8B9}"/>
              </a:ext>
            </a:extLst>
          </p:cNvPr>
          <p:cNvSpPr txBox="1"/>
          <p:nvPr/>
        </p:nvSpPr>
        <p:spPr>
          <a:xfrm>
            <a:off x="576527" y="6042029"/>
            <a:ext cx="39298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15</a:t>
            </a:r>
            <a:endParaRPr dirty="0"/>
          </a:p>
        </p:txBody>
      </p:sp>
      <p:cxnSp>
        <p:nvCxnSpPr>
          <p:cNvPr id="192" name="Google Shape;192;p3">
            <a:extLst>
              <a:ext uri="{FF2B5EF4-FFF2-40B4-BE49-F238E27FC236}">
                <a16:creationId xmlns:a16="http://schemas.microsoft.com/office/drawing/2014/main" id="{84BF18DB-8292-F542-316C-4C2953D8321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3101FB2-5748-9F00-11B6-7B950EA21DE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lvl="0"/>
            <a:r>
              <a:rPr lang="pl-PL" sz="2400" b="1" dirty="0">
                <a:solidFill>
                  <a:schemeClr val="dk1"/>
                </a:solidFill>
              </a:rPr>
              <a:t>A2C learning </a:t>
            </a:r>
            <a:r>
              <a:rPr lang="pl-PL" sz="2400" b="1" dirty="0" err="1">
                <a:solidFill>
                  <a:schemeClr val="dk1"/>
                </a:solidFill>
              </a:rPr>
              <a:t>curve</a:t>
            </a:r>
            <a:endParaRPr lang="pl-PL" sz="2400" dirty="0"/>
          </a:p>
        </p:txBody>
      </p:sp>
      <p:pic>
        <p:nvPicPr>
          <p:cNvPr id="4" name="Picture 3" descr="A graph of a graph&#10;&#10;AI-generated content may be incorrect.">
            <a:extLst>
              <a:ext uri="{FF2B5EF4-FFF2-40B4-BE49-F238E27FC236}">
                <a16:creationId xmlns:a16="http://schemas.microsoft.com/office/drawing/2014/main" id="{DED9A111-E5E8-0A48-5380-43E0E9545B28}"/>
              </a:ext>
            </a:extLst>
          </p:cNvPr>
          <p:cNvPicPr>
            <a:picLocks noChangeAspect="1"/>
          </p:cNvPicPr>
          <p:nvPr/>
        </p:nvPicPr>
        <p:blipFill>
          <a:blip r:embed="rId4"/>
          <a:stretch>
            <a:fillRect/>
          </a:stretch>
        </p:blipFill>
        <p:spPr>
          <a:xfrm>
            <a:off x="1720441" y="1371079"/>
            <a:ext cx="6808617" cy="4243565"/>
          </a:xfrm>
          <a:prstGeom prst="rect">
            <a:avLst/>
          </a:prstGeom>
        </p:spPr>
      </p:pic>
    </p:spTree>
    <p:extLst>
      <p:ext uri="{BB962C8B-B14F-4D97-AF65-F5344CB8AC3E}">
        <p14:creationId xmlns:p14="http://schemas.microsoft.com/office/powerpoint/2010/main" val="1418116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C3D02F5-CEF8-05A7-A5E1-25A4C357739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DDFC5265-6EA5-9F7B-2FA1-E337A90DAB1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5BB852BC-CA91-65D2-F627-FEAFAD50D25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34D26D89-6E73-C394-1963-A015131F46BE}"/>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87892061-E0AE-9BDE-D944-8EA1C8B11C3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D143B53-48A3-2547-6A89-0B8EE600C76A}"/>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DF1DBA2-6C72-B42B-1AEA-93D7C52B3BDB}"/>
              </a:ext>
            </a:extLst>
          </p:cNvPr>
          <p:cNvSpPr txBox="1"/>
          <p:nvPr/>
        </p:nvSpPr>
        <p:spPr>
          <a:xfrm>
            <a:off x="576527" y="6042029"/>
            <a:ext cx="392987"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16</a:t>
            </a:r>
            <a:endParaRPr dirty="0"/>
          </a:p>
        </p:txBody>
      </p:sp>
      <p:cxnSp>
        <p:nvCxnSpPr>
          <p:cNvPr id="192" name="Google Shape;192;p3">
            <a:extLst>
              <a:ext uri="{FF2B5EF4-FFF2-40B4-BE49-F238E27FC236}">
                <a16:creationId xmlns:a16="http://schemas.microsoft.com/office/drawing/2014/main" id="{CFB75C08-EDD6-0786-54E7-0F7ED04140E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96C7737-8A11-6342-B895-0C67F7816931}"/>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Best-</a:t>
            </a:r>
            <a:r>
              <a:rPr lang="pl-PL" sz="2400" b="1" dirty="0" err="1">
                <a:solidFill>
                  <a:schemeClr val="dk1"/>
                </a:solidFill>
              </a:rPr>
              <a:t>config</a:t>
            </a:r>
            <a:r>
              <a:rPr lang="pl-PL" sz="2400" b="1" dirty="0">
                <a:solidFill>
                  <a:schemeClr val="dk1"/>
                </a:solidFill>
              </a:rPr>
              <a:t> </a:t>
            </a:r>
            <a:r>
              <a:rPr lang="pl-PL" sz="2400" b="1" dirty="0" err="1">
                <a:solidFill>
                  <a:schemeClr val="dk1"/>
                </a:solidFill>
              </a:rPr>
              <a:t>comparison</a:t>
            </a:r>
            <a:endParaRPr dirty="0"/>
          </a:p>
        </p:txBody>
      </p:sp>
      <p:pic>
        <p:nvPicPr>
          <p:cNvPr id="4" name="Picture 3" descr="A graph showing a line graph&#10;&#10;AI-generated content may be incorrect.">
            <a:extLst>
              <a:ext uri="{FF2B5EF4-FFF2-40B4-BE49-F238E27FC236}">
                <a16:creationId xmlns:a16="http://schemas.microsoft.com/office/drawing/2014/main" id="{E507B958-5062-D99E-2AAD-A22CE225C2B9}"/>
              </a:ext>
            </a:extLst>
          </p:cNvPr>
          <p:cNvPicPr>
            <a:picLocks noChangeAspect="1"/>
          </p:cNvPicPr>
          <p:nvPr/>
        </p:nvPicPr>
        <p:blipFill>
          <a:blip r:embed="rId4"/>
          <a:stretch>
            <a:fillRect/>
          </a:stretch>
        </p:blipFill>
        <p:spPr>
          <a:xfrm>
            <a:off x="1658314" y="1474688"/>
            <a:ext cx="6869236" cy="4281347"/>
          </a:xfrm>
          <a:prstGeom prst="rect">
            <a:avLst/>
          </a:prstGeom>
        </p:spPr>
      </p:pic>
    </p:spTree>
    <p:extLst>
      <p:ext uri="{BB962C8B-B14F-4D97-AF65-F5344CB8AC3E}">
        <p14:creationId xmlns:p14="http://schemas.microsoft.com/office/powerpoint/2010/main" val="3353511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4CF5824-2A8A-C198-EBEA-B86177F10D84}"/>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CAA462AD-55A2-D328-C47C-28789B17A8C4}"/>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EAD6E046-8F49-E21D-C06E-BE83714130D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982F474A-7831-6E85-9BA9-A3781983EF3E}"/>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F1333DCA-503D-D956-2D1A-9BF23C6CA1F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D1A6142-AFBA-B729-C25F-72BA5D16819C}"/>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1058D80B-EE7D-F8D1-8A15-E9293C55949B}"/>
              </a:ext>
            </a:extLst>
          </p:cNvPr>
          <p:cNvSpPr txBox="1"/>
          <p:nvPr/>
        </p:nvSpPr>
        <p:spPr>
          <a:xfrm>
            <a:off x="576526" y="6042029"/>
            <a:ext cx="392983"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17</a:t>
            </a:r>
            <a:endParaRPr dirty="0"/>
          </a:p>
        </p:txBody>
      </p:sp>
      <p:cxnSp>
        <p:nvCxnSpPr>
          <p:cNvPr id="192" name="Google Shape;192;p3">
            <a:extLst>
              <a:ext uri="{FF2B5EF4-FFF2-40B4-BE49-F238E27FC236}">
                <a16:creationId xmlns:a16="http://schemas.microsoft.com/office/drawing/2014/main" id="{2F4B253D-B1F3-D373-4DE0-74E7066E90D0}"/>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F6B929F6-C2A0-DDAF-5F06-DB899461B1BE}"/>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Results</a:t>
            </a:r>
            <a:r>
              <a:rPr lang="pl-PL" sz="2400" b="1" dirty="0">
                <a:solidFill>
                  <a:schemeClr val="dk1"/>
                </a:solidFill>
              </a:rPr>
              <a:t> </a:t>
            </a:r>
            <a:r>
              <a:rPr lang="pl-PL" sz="2400" b="1" dirty="0" err="1">
                <a:solidFill>
                  <a:schemeClr val="dk1"/>
                </a:solidFill>
              </a:rPr>
              <a:t>summary</a:t>
            </a:r>
            <a:endParaRPr dirty="0"/>
          </a:p>
        </p:txBody>
      </p:sp>
      <p:sp>
        <p:nvSpPr>
          <p:cNvPr id="6" name="Google Shape;210;p4">
            <a:extLst>
              <a:ext uri="{FF2B5EF4-FFF2-40B4-BE49-F238E27FC236}">
                <a16:creationId xmlns:a16="http://schemas.microsoft.com/office/drawing/2014/main" id="{507FA615-6BB1-7C02-B88E-E4069925994E}"/>
              </a:ext>
            </a:extLst>
          </p:cNvPr>
          <p:cNvSpPr txBox="1"/>
          <p:nvPr/>
        </p:nvSpPr>
        <p:spPr>
          <a:xfrm>
            <a:off x="1583474" y="1314363"/>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Best overall configuration is </a:t>
            </a:r>
            <a:r>
              <a:rPr lang="en-US" sz="1800" b="1" dirty="0">
                <a:latin typeface="Calibri" panose="020F0502020204030204" pitchFamily="34" charset="0"/>
                <a:cs typeface="Calibri" panose="020F0502020204030204" pitchFamily="34" charset="0"/>
              </a:rPr>
              <a:t>A2C </a:t>
            </a:r>
            <a:r>
              <a:rPr lang="en-US" sz="1800" dirty="0">
                <a:latin typeface="Calibri" panose="020F0502020204030204" pitchFamily="34" charset="0"/>
                <a:cs typeface="Calibri" panose="020F0502020204030204" pitchFamily="34" charset="0"/>
              </a:rPr>
              <a:t>with</a:t>
            </a:r>
            <a:r>
              <a:rPr lang="en-US" sz="1800" b="1" dirty="0">
                <a:latin typeface="Calibri" panose="020F0502020204030204" pitchFamily="34" charset="0"/>
                <a:cs typeface="Calibri" panose="020F0502020204030204" pitchFamily="34" charset="0"/>
              </a:rPr>
              <a:t> r0</a:t>
            </a:r>
            <a:r>
              <a:rPr lang="en-US" sz="1800" dirty="0">
                <a:latin typeface="Calibri" panose="020F0502020204030204" pitchFamily="34" charset="0"/>
                <a:cs typeface="Calibri" panose="020F0502020204030204" pitchFamily="34" charset="0"/>
              </a:rPr>
              <a:t>, which achieved </a:t>
            </a:r>
            <a:r>
              <a:rPr lang="en-US" sz="1800" b="1" dirty="0">
                <a:latin typeface="Calibri" panose="020F0502020204030204" pitchFamily="34" charset="0"/>
                <a:cs typeface="Calibri" panose="020F0502020204030204" pitchFamily="34" charset="0"/>
              </a:rPr>
              <a:t>−0.0476 ± 0.0080 </a:t>
            </a:r>
            <a:r>
              <a:rPr lang="en-US" sz="1800" dirty="0">
                <a:latin typeface="Calibri" panose="020F0502020204030204" pitchFamily="34" charset="0"/>
                <a:cs typeface="Calibri" panose="020F0502020204030204" pitchFamily="34" charset="0"/>
              </a:rPr>
              <a:t>mean return (n=3).</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Best </a:t>
            </a:r>
            <a:r>
              <a:rPr lang="en-US" sz="1800" b="1"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configuration is </a:t>
            </a:r>
            <a:r>
              <a:rPr lang="en-US" sz="1800" b="1" dirty="0">
                <a:latin typeface="Calibri" panose="020F0502020204030204" pitchFamily="34" charset="0"/>
                <a:cs typeface="Calibri" panose="020F0502020204030204" pitchFamily="34" charset="0"/>
              </a:rPr>
              <a:t>r1</a:t>
            </a:r>
            <a:r>
              <a:rPr lang="en-US" sz="1800" dirty="0">
                <a:latin typeface="Calibri" panose="020F0502020204030204" pitchFamily="34" charset="0"/>
                <a:cs typeface="Calibri" panose="020F0502020204030204" pitchFamily="34" charset="0"/>
              </a:rPr>
              <a:t>, with </a:t>
            </a:r>
            <a:r>
              <a:rPr lang="en-US" sz="1800" b="1" dirty="0">
                <a:latin typeface="Calibri" panose="020F0502020204030204" pitchFamily="34" charset="0"/>
                <a:cs typeface="Calibri" panose="020F0502020204030204" pitchFamily="34" charset="0"/>
              </a:rPr>
              <a:t>−0.0496 ± 0.0029 </a:t>
            </a:r>
            <a:r>
              <a:rPr lang="en-US" sz="1800" dirty="0">
                <a:latin typeface="Calibri" panose="020F0502020204030204" pitchFamily="34" charset="0"/>
                <a:cs typeface="Calibri" panose="020F0502020204030204" pitchFamily="34" charset="0"/>
              </a:rPr>
              <a:t>mean return (n=3).</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The difference is small; A2C r0 has the highest average return.</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Win rates are also close:  </a:t>
            </a:r>
          </a:p>
          <a:p>
            <a:pPr marL="633413"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A2C r0 = 0.4280 ± 0.0056,  </a:t>
            </a:r>
          </a:p>
          <a:p>
            <a:pPr marL="633413" indent="-285750">
              <a:lnSpc>
                <a:spcPct val="150000"/>
              </a:lnSpc>
              <a:buFont typeface="Wingdings" pitchFamily="2" charset="2"/>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r1 = 0.4287 ± 0.0010.</a:t>
            </a:r>
          </a:p>
        </p:txBody>
      </p:sp>
    </p:spTree>
    <p:extLst>
      <p:ext uri="{BB962C8B-B14F-4D97-AF65-F5344CB8AC3E}">
        <p14:creationId xmlns:p14="http://schemas.microsoft.com/office/powerpoint/2010/main" val="1130957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602ADA0-7959-768C-FED2-148BBB829D1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9C9B0DA-D204-66F7-D773-27F4A98029F0}"/>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4CB9D189-745F-D9E3-A748-608DE3A80F88}"/>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4E0964AC-B65D-31B2-7DE0-D2255107A3D2}"/>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6E78B958-1851-B3C0-567B-DD4AC7F0C6B9}"/>
              </a:ext>
            </a:extLst>
          </p:cNvPr>
          <p:cNvPicPr preferRelativeResize="0"/>
          <p:nvPr/>
        </p:nvPicPr>
        <p:blipFill rotWithShape="1">
          <a:blip r:embed="rId5">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2879577-C82E-14FC-640F-AAEE3477D268}"/>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EA85726-E141-24BF-1AF9-33249B233945}"/>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18</a:t>
            </a:r>
            <a:endParaRPr dirty="0"/>
          </a:p>
        </p:txBody>
      </p:sp>
      <p:cxnSp>
        <p:nvCxnSpPr>
          <p:cNvPr id="192" name="Google Shape;192;p3">
            <a:extLst>
              <a:ext uri="{FF2B5EF4-FFF2-40B4-BE49-F238E27FC236}">
                <a16:creationId xmlns:a16="http://schemas.microsoft.com/office/drawing/2014/main" id="{12507B24-7308-382F-DD2D-45DB8C8F3E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709CBB5-777B-D7EE-E44D-05FFC1A396B6}"/>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a:t>
            </a:r>
            <a:endParaRPr dirty="0"/>
          </a:p>
        </p:txBody>
      </p:sp>
      <p:pic>
        <p:nvPicPr>
          <p:cNvPr id="4" name="Demo-RL">
            <a:hlinkClick r:id="" action="ppaction://media"/>
            <a:extLst>
              <a:ext uri="{FF2B5EF4-FFF2-40B4-BE49-F238E27FC236}">
                <a16:creationId xmlns:a16="http://schemas.microsoft.com/office/drawing/2014/main" id="{BB044D22-48FA-812D-CD6E-067D177FFBC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81495" y="1325878"/>
            <a:ext cx="5086510" cy="4478949"/>
          </a:xfrm>
          <a:prstGeom prst="rect">
            <a:avLst/>
          </a:prstGeom>
        </p:spPr>
      </p:pic>
    </p:spTree>
    <p:extLst>
      <p:ext uri="{BB962C8B-B14F-4D97-AF65-F5344CB8AC3E}">
        <p14:creationId xmlns:p14="http://schemas.microsoft.com/office/powerpoint/2010/main" val="184007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52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6E8C3CC-9A30-5A9C-D2BE-F05214D4220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BF4588D-BB1E-9B94-21E6-331F97BD01B2}"/>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6C89E4C-A2F4-2CDA-E73D-879196B6FA0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661AEF2F-3FF7-D7DC-5E21-69267F48EB6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54DA051-0696-1832-B885-01175CF655A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C6EC9C3-C8F1-5615-5A86-C3A2E591F29D}"/>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3B955F32-3D39-9FA0-98F1-3479C0FFA926}"/>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19</a:t>
            </a:r>
            <a:endParaRPr dirty="0"/>
          </a:p>
        </p:txBody>
      </p:sp>
      <p:cxnSp>
        <p:nvCxnSpPr>
          <p:cNvPr id="192" name="Google Shape;192;p3">
            <a:extLst>
              <a:ext uri="{FF2B5EF4-FFF2-40B4-BE49-F238E27FC236}">
                <a16:creationId xmlns:a16="http://schemas.microsoft.com/office/drawing/2014/main" id="{3448E4EE-A8F9-4BF1-9096-935FC6FECED3}"/>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1DB1B50-3188-158B-18D8-B0BFF85D99A3}"/>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 - </a:t>
            </a:r>
            <a:r>
              <a:rPr lang="pl-PL" sz="2400" b="1" dirty="0" err="1">
                <a:solidFill>
                  <a:schemeClr val="dk1"/>
                </a:solidFill>
              </a:rPr>
              <a:t>results</a:t>
            </a:r>
            <a:endParaRPr dirty="0"/>
          </a:p>
        </p:txBody>
      </p:sp>
      <p:graphicFrame>
        <p:nvGraphicFramePr>
          <p:cNvPr id="4" name="Table 3">
            <a:extLst>
              <a:ext uri="{FF2B5EF4-FFF2-40B4-BE49-F238E27FC236}">
                <a16:creationId xmlns:a16="http://schemas.microsoft.com/office/drawing/2014/main" id="{83608B99-6FAB-9129-A235-EF888100F1AC}"/>
              </a:ext>
            </a:extLst>
          </p:cNvPr>
          <p:cNvGraphicFramePr>
            <a:graphicFrameLocks noGrp="1"/>
          </p:cNvGraphicFramePr>
          <p:nvPr>
            <p:extLst>
              <p:ext uri="{D42A27DB-BD31-4B8C-83A1-F6EECF244321}">
                <p14:modId xmlns:p14="http://schemas.microsoft.com/office/powerpoint/2010/main" val="3114961773"/>
              </p:ext>
            </p:extLst>
          </p:nvPr>
        </p:nvGraphicFramePr>
        <p:xfrm>
          <a:off x="2328339" y="1408245"/>
          <a:ext cx="5592821" cy="4351340"/>
        </p:xfrm>
        <a:graphic>
          <a:graphicData uri="http://schemas.openxmlformats.org/drawingml/2006/table">
            <a:tbl>
              <a:tblPr>
                <a:tableStyleId>{3C2FFA5D-87B4-456A-9821-1D502468CF0F}</a:tableStyleId>
              </a:tblPr>
              <a:tblGrid>
                <a:gridCol w="580844">
                  <a:extLst>
                    <a:ext uri="{9D8B030D-6E8A-4147-A177-3AD203B41FA5}">
                      <a16:colId xmlns:a16="http://schemas.microsoft.com/office/drawing/2014/main" val="3738633606"/>
                    </a:ext>
                  </a:extLst>
                </a:gridCol>
                <a:gridCol w="809660">
                  <a:extLst>
                    <a:ext uri="{9D8B030D-6E8A-4147-A177-3AD203B41FA5}">
                      <a16:colId xmlns:a16="http://schemas.microsoft.com/office/drawing/2014/main" val="1608060405"/>
                    </a:ext>
                  </a:extLst>
                </a:gridCol>
                <a:gridCol w="673250">
                  <a:extLst>
                    <a:ext uri="{9D8B030D-6E8A-4147-A177-3AD203B41FA5}">
                      <a16:colId xmlns:a16="http://schemas.microsoft.com/office/drawing/2014/main" val="811283298"/>
                    </a:ext>
                  </a:extLst>
                </a:gridCol>
                <a:gridCol w="1148487">
                  <a:extLst>
                    <a:ext uri="{9D8B030D-6E8A-4147-A177-3AD203B41FA5}">
                      <a16:colId xmlns:a16="http://schemas.microsoft.com/office/drawing/2014/main" val="216621169"/>
                    </a:ext>
                  </a:extLst>
                </a:gridCol>
                <a:gridCol w="1148487">
                  <a:extLst>
                    <a:ext uri="{9D8B030D-6E8A-4147-A177-3AD203B41FA5}">
                      <a16:colId xmlns:a16="http://schemas.microsoft.com/office/drawing/2014/main" val="1358830678"/>
                    </a:ext>
                  </a:extLst>
                </a:gridCol>
                <a:gridCol w="1232093">
                  <a:extLst>
                    <a:ext uri="{9D8B030D-6E8A-4147-A177-3AD203B41FA5}">
                      <a16:colId xmlns:a16="http://schemas.microsoft.com/office/drawing/2014/main" val="2932102051"/>
                    </a:ext>
                  </a:extLst>
                </a:gridCol>
              </a:tblGrid>
              <a:tr h="217567">
                <a:tc>
                  <a:txBody>
                    <a:bodyPr/>
                    <a:lstStyle/>
                    <a:p>
                      <a:pPr algn="ctr" fontAlgn="b">
                        <a:buNone/>
                      </a:pPr>
                      <a:r>
                        <a:rPr lang="en-US" sz="1100" u="none" strike="noStrike">
                          <a:effectLst/>
                        </a:rPr>
                        <a:t>Ep 1</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W/D/L=0/0/1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276354410"/>
                  </a:ext>
                </a:extLst>
              </a:tr>
              <a:tr h="217567">
                <a:tc>
                  <a:txBody>
                    <a:bodyPr/>
                    <a:lstStyle/>
                    <a:p>
                      <a:pPr algn="ctr" fontAlgn="b">
                        <a:buNone/>
                      </a:pPr>
                      <a:r>
                        <a:rPr lang="en-US" sz="1100" u="none" strike="noStrike">
                          <a:effectLst/>
                        </a:rPr>
                        <a:t>Ep 2</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W/D/L=1/0/1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555141885"/>
                  </a:ext>
                </a:extLst>
              </a:tr>
              <a:tr h="217567">
                <a:tc>
                  <a:txBody>
                    <a:bodyPr/>
                    <a:lstStyle/>
                    <a:p>
                      <a:pPr algn="ctr" fontAlgn="b">
                        <a:buNone/>
                      </a:pPr>
                      <a:r>
                        <a:rPr lang="en-US" sz="1100" u="none" strike="noStrike">
                          <a:effectLst/>
                        </a:rPr>
                        <a:t>Ep 3</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W/D/L=2/0/1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758708000"/>
                  </a:ext>
                </a:extLst>
              </a:tr>
              <a:tr h="217567">
                <a:tc>
                  <a:txBody>
                    <a:bodyPr/>
                    <a:lstStyle/>
                    <a:p>
                      <a:pPr algn="ctr" fontAlgn="b">
                        <a:buNone/>
                      </a:pPr>
                      <a:r>
                        <a:rPr lang="en-US" sz="1100" u="none" strike="noStrike">
                          <a:effectLst/>
                        </a:rPr>
                        <a:t>Ep 4</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W/D/L=3/0/1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777434224"/>
                  </a:ext>
                </a:extLst>
              </a:tr>
              <a:tr h="217567">
                <a:tc>
                  <a:txBody>
                    <a:bodyPr/>
                    <a:lstStyle/>
                    <a:p>
                      <a:pPr algn="ctr" fontAlgn="b">
                        <a:buNone/>
                      </a:pPr>
                      <a:r>
                        <a:rPr lang="en-US" sz="1100" u="none" strike="noStrike">
                          <a:effectLst/>
                        </a:rPr>
                        <a:t>Ep 5</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bank=+3.00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W/D/L=4/0/1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61450354"/>
                  </a:ext>
                </a:extLst>
              </a:tr>
              <a:tr h="217567">
                <a:tc>
                  <a:txBody>
                    <a:bodyPr/>
                    <a:lstStyle/>
                    <a:p>
                      <a:pPr algn="ctr" fontAlgn="b">
                        <a:buNone/>
                      </a:pPr>
                      <a:r>
                        <a:rPr lang="en-US" sz="1100" u="none" strike="noStrike">
                          <a:effectLst/>
                        </a:rPr>
                        <a:t>Ep 6</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W/D/L=4/0/2</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4260300237"/>
                  </a:ext>
                </a:extLst>
              </a:tr>
              <a:tr h="217567">
                <a:tc>
                  <a:txBody>
                    <a:bodyPr/>
                    <a:lstStyle/>
                    <a:p>
                      <a:pPr algn="ctr" fontAlgn="b">
                        <a:buNone/>
                      </a:pPr>
                      <a:r>
                        <a:rPr lang="en-US" sz="1100" u="none" strike="noStrike">
                          <a:effectLst/>
                        </a:rPr>
                        <a:t>Ep 7</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bank=+3.00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W/D/L=5/0/2</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997704329"/>
                  </a:ext>
                </a:extLst>
              </a:tr>
              <a:tr h="217567">
                <a:tc>
                  <a:txBody>
                    <a:bodyPr/>
                    <a:lstStyle/>
                    <a:p>
                      <a:pPr algn="ctr" fontAlgn="b">
                        <a:buNone/>
                      </a:pPr>
                      <a:r>
                        <a:rPr lang="en-US" sz="1100" u="none" strike="noStrike">
                          <a:effectLst/>
                        </a:rPr>
                        <a:t>Ep 8</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W/D/L=5/0/3</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97279204"/>
                  </a:ext>
                </a:extLst>
              </a:tr>
              <a:tr h="217567">
                <a:tc>
                  <a:txBody>
                    <a:bodyPr/>
                    <a:lstStyle/>
                    <a:p>
                      <a:pPr algn="ctr" fontAlgn="b">
                        <a:buNone/>
                      </a:pPr>
                      <a:r>
                        <a:rPr lang="en-US" sz="1100" u="none" strike="noStrike">
                          <a:effectLst/>
                        </a:rPr>
                        <a:t>Ep 9</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W/D/L=5/0/4</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310496762"/>
                  </a:ext>
                </a:extLst>
              </a:tr>
              <a:tr h="217567">
                <a:tc>
                  <a:txBody>
                    <a:bodyPr/>
                    <a:lstStyle/>
                    <a:p>
                      <a:pPr algn="ctr" fontAlgn="b">
                        <a:buNone/>
                      </a:pPr>
                      <a:r>
                        <a:rPr lang="en-US" sz="1100" u="none" strike="noStrike">
                          <a:effectLst/>
                        </a:rPr>
                        <a:t>Ep 10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349236455"/>
                  </a:ext>
                </a:extLst>
              </a:tr>
              <a:tr h="217567">
                <a:tc>
                  <a:txBody>
                    <a:bodyPr/>
                    <a:lstStyle/>
                    <a:p>
                      <a:pPr algn="ctr" fontAlgn="b">
                        <a:buNone/>
                      </a:pPr>
                      <a:r>
                        <a:rPr lang="en-US" sz="1100" u="none" strike="noStrike">
                          <a:effectLst/>
                        </a:rPr>
                        <a:t>Ep 11</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W/D/L=6/0/5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91643781"/>
                  </a:ext>
                </a:extLst>
              </a:tr>
              <a:tr h="217567">
                <a:tc>
                  <a:txBody>
                    <a:bodyPr/>
                    <a:lstStyle/>
                    <a:p>
                      <a:pPr algn="ctr" fontAlgn="b">
                        <a:buNone/>
                      </a:pPr>
                      <a:r>
                        <a:rPr lang="en-US" sz="1100" u="none" strike="noStrike">
                          <a:effectLst/>
                        </a:rPr>
                        <a:t>Ep 12</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DRAW</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W/D/L=6/1/5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373768137"/>
                  </a:ext>
                </a:extLst>
              </a:tr>
              <a:tr h="217567">
                <a:tc>
                  <a:txBody>
                    <a:bodyPr/>
                    <a:lstStyle/>
                    <a:p>
                      <a:pPr algn="ctr" fontAlgn="b">
                        <a:buNone/>
                      </a:pPr>
                      <a:r>
                        <a:rPr lang="en-US" sz="1100" u="none" strike="noStrike">
                          <a:effectLst/>
                        </a:rPr>
                        <a:t>Ep 13</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893817983"/>
                  </a:ext>
                </a:extLst>
              </a:tr>
              <a:tr h="217567">
                <a:tc>
                  <a:txBody>
                    <a:bodyPr/>
                    <a:lstStyle/>
                    <a:p>
                      <a:pPr algn="ctr" fontAlgn="b">
                        <a:buNone/>
                      </a:pPr>
                      <a:r>
                        <a:rPr lang="en-US" sz="1100" u="none" strike="noStrike">
                          <a:effectLst/>
                        </a:rPr>
                        <a:t>Ep 14</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W/D/L=7/1/6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355053878"/>
                  </a:ext>
                </a:extLst>
              </a:tr>
              <a:tr h="217567">
                <a:tc>
                  <a:txBody>
                    <a:bodyPr/>
                    <a:lstStyle/>
                    <a:p>
                      <a:pPr algn="ctr" fontAlgn="b">
                        <a:buNone/>
                      </a:pPr>
                      <a:r>
                        <a:rPr lang="en-US" sz="1100" u="none" strike="noStrike">
                          <a:effectLst/>
                        </a:rPr>
                        <a:t>Ep 15</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W/D/L=8/1/6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769249193"/>
                  </a:ext>
                </a:extLst>
              </a:tr>
              <a:tr h="217567">
                <a:tc>
                  <a:txBody>
                    <a:bodyPr/>
                    <a:lstStyle/>
                    <a:p>
                      <a:pPr algn="ctr" fontAlgn="b">
                        <a:buNone/>
                      </a:pPr>
                      <a:r>
                        <a:rPr lang="en-US" sz="1100" u="none" strike="noStrike">
                          <a:effectLst/>
                        </a:rPr>
                        <a:t>Ep 16</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W/D/L=8/1/7</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151738510"/>
                  </a:ext>
                </a:extLst>
              </a:tr>
              <a:tr h="217567">
                <a:tc>
                  <a:txBody>
                    <a:bodyPr/>
                    <a:lstStyle/>
                    <a:p>
                      <a:pPr algn="ctr" fontAlgn="b">
                        <a:buNone/>
                      </a:pPr>
                      <a:r>
                        <a:rPr lang="en-US" sz="1100" u="none" strike="noStrike">
                          <a:effectLst/>
                        </a:rPr>
                        <a:t>Ep 17</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W/D/L=9/1/7</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67311778"/>
                  </a:ext>
                </a:extLst>
              </a:tr>
              <a:tr h="217567">
                <a:tc>
                  <a:txBody>
                    <a:bodyPr/>
                    <a:lstStyle/>
                    <a:p>
                      <a:pPr algn="ctr" fontAlgn="b">
                        <a:buNone/>
                      </a:pPr>
                      <a:r>
                        <a:rPr lang="en-US" sz="1100" u="none" strike="noStrike">
                          <a:effectLst/>
                        </a:rPr>
                        <a:t>Ep 18</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W/D/L=9/1/8</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484014673"/>
                  </a:ext>
                </a:extLst>
              </a:tr>
              <a:tr h="217567">
                <a:tc>
                  <a:txBody>
                    <a:bodyPr/>
                    <a:lstStyle/>
                    <a:p>
                      <a:pPr algn="ctr" fontAlgn="b">
                        <a:buNone/>
                      </a:pPr>
                      <a:r>
                        <a:rPr lang="en-US" sz="1100" u="none" strike="noStrike">
                          <a:effectLst/>
                        </a:rPr>
                        <a:t>Ep 19</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W/D/L=9/1/9</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219663332"/>
                  </a:ext>
                </a:extLst>
              </a:tr>
              <a:tr h="217567">
                <a:tc>
                  <a:txBody>
                    <a:bodyPr/>
                    <a:lstStyle/>
                    <a:p>
                      <a:pPr algn="ctr" fontAlgn="b">
                        <a:buNone/>
                      </a:pPr>
                      <a:r>
                        <a:rPr lang="en-US" sz="1100" u="none" strike="noStrike" dirty="0">
                          <a:effectLst/>
                        </a:rPr>
                        <a:t>Ep 20</a:t>
                      </a:r>
                      <a:endParaRPr lang="en-US" sz="1100" b="0" i="0" u="none" strike="noStrike" dirty="0">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DRAW</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dirty="0">
                          <a:effectLst/>
                        </a:rPr>
                        <a:t>W/D/L=9/2/9</a:t>
                      </a:r>
                      <a:endParaRPr lang="en-US" sz="1100" b="0" i="0" u="none" strike="noStrike" dirty="0">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020284421"/>
                  </a:ext>
                </a:extLst>
              </a:tr>
            </a:tbl>
          </a:graphicData>
        </a:graphic>
      </p:graphicFrame>
    </p:spTree>
    <p:extLst>
      <p:ext uri="{BB962C8B-B14F-4D97-AF65-F5344CB8AC3E}">
        <p14:creationId xmlns:p14="http://schemas.microsoft.com/office/powerpoint/2010/main" val="167304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0FD5950A-BFD7-D95D-43A3-BAF0B0C06AD2}"/>
            </a:ext>
          </a:extLst>
        </p:cNvPr>
        <p:cNvGrpSpPr/>
        <p:nvPr/>
      </p:nvGrpSpPr>
      <p:grpSpPr>
        <a:xfrm>
          <a:off x="0" y="0"/>
          <a:ext cx="0" cy="0"/>
          <a:chOff x="0" y="0"/>
          <a:chExt cx="0" cy="0"/>
        </a:xfrm>
      </p:grpSpPr>
      <p:sp>
        <p:nvSpPr>
          <p:cNvPr id="157" name="Google Shape;157;p1">
            <a:extLst>
              <a:ext uri="{FF2B5EF4-FFF2-40B4-BE49-F238E27FC236}">
                <a16:creationId xmlns:a16="http://schemas.microsoft.com/office/drawing/2014/main" id="{4DF2434D-1C79-BE63-48D4-6E3D7DE738B4}"/>
              </a:ext>
            </a:extLst>
          </p:cNvPr>
          <p:cNvSpPr/>
          <p:nvPr/>
        </p:nvSpPr>
        <p:spPr>
          <a:xfrm>
            <a:off x="3657600" y="628459"/>
            <a:ext cx="2460171" cy="22712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lang="en-US" sz="1800" b="0" i="0" u="none" strike="noStrike" cap="none" dirty="0">
              <a:solidFill>
                <a:srgbClr val="000000"/>
              </a:solidFill>
              <a:latin typeface="Calibri"/>
              <a:ea typeface="Calibri"/>
              <a:cs typeface="Calibri"/>
              <a:sym typeface="Calibri"/>
            </a:endParaRPr>
          </a:p>
        </p:txBody>
      </p:sp>
      <p:cxnSp>
        <p:nvCxnSpPr>
          <p:cNvPr id="158" name="Google Shape;158;p1">
            <a:extLst>
              <a:ext uri="{FF2B5EF4-FFF2-40B4-BE49-F238E27FC236}">
                <a16:creationId xmlns:a16="http://schemas.microsoft.com/office/drawing/2014/main" id="{DDA0A823-08B5-FC37-6CE1-8CCF15DC9C60}"/>
              </a:ext>
            </a:extLst>
          </p:cNvPr>
          <p:cNvCxnSpPr/>
          <p:nvPr/>
        </p:nvCxnSpPr>
        <p:spPr>
          <a:xfrm>
            <a:off x="1583474" y="3162118"/>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59" name="Google Shape;159;p1">
            <a:extLst>
              <a:ext uri="{FF2B5EF4-FFF2-40B4-BE49-F238E27FC236}">
                <a16:creationId xmlns:a16="http://schemas.microsoft.com/office/drawing/2014/main" id="{875B5860-06DD-3654-984A-82AB4D40BE56}"/>
              </a:ext>
            </a:extLst>
          </p:cNvPr>
          <p:cNvSpPr/>
          <p:nvPr/>
        </p:nvSpPr>
        <p:spPr>
          <a:xfrm>
            <a:off x="1080000" y="288000"/>
            <a:ext cx="178420" cy="6120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lang="en-US" sz="1800" b="0" i="0" u="none" strike="noStrike" cap="none" dirty="0">
              <a:solidFill>
                <a:srgbClr val="FFFFFF"/>
              </a:solidFill>
              <a:latin typeface="Calibri"/>
              <a:ea typeface="Calibri"/>
              <a:cs typeface="Calibri"/>
              <a:sym typeface="Calibri"/>
            </a:endParaRPr>
          </a:p>
        </p:txBody>
      </p:sp>
      <p:cxnSp>
        <p:nvCxnSpPr>
          <p:cNvPr id="160" name="Google Shape;160;p1">
            <a:extLst>
              <a:ext uri="{FF2B5EF4-FFF2-40B4-BE49-F238E27FC236}">
                <a16:creationId xmlns:a16="http://schemas.microsoft.com/office/drawing/2014/main" id="{6F862BAE-4F6B-2D81-4E4A-9F466C38906C}"/>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1" name="Google Shape;161;p1">
            <a:extLst>
              <a:ext uri="{FF2B5EF4-FFF2-40B4-BE49-F238E27FC236}">
                <a16:creationId xmlns:a16="http://schemas.microsoft.com/office/drawing/2014/main" id="{5B6E1A46-F245-B9F7-2F5E-8A40FF9B8FCA}"/>
              </a:ext>
            </a:extLst>
          </p:cNvPr>
          <p:cNvSpPr txBox="1"/>
          <p:nvPr/>
        </p:nvSpPr>
        <p:spPr>
          <a:xfrm>
            <a:off x="1583474" y="5952542"/>
            <a:ext cx="3378819" cy="276999"/>
          </a:xfrm>
          <a:prstGeom prst="rect">
            <a:avLst/>
          </a:prstGeom>
          <a:noFill/>
          <a:ln>
            <a:noFill/>
          </a:ln>
        </p:spPr>
        <p:txBody>
          <a:bodyPr spcFirstLastPara="1" wrap="square" lIns="91425" tIns="45700" rIns="91425" bIns="45700" anchor="t" anchorCtr="0">
            <a:spAutoFit/>
          </a:bodyPr>
          <a:lstStyle/>
          <a:p>
            <a:r>
              <a:rPr lang="en-US" sz="1200" dirty="0">
                <a:latin typeface="Arial" panose="020B0604020202020204" pitchFamily="34" charset="0"/>
                <a:cs typeface="Arial" panose="020B0604020202020204" pitchFamily="34" charset="0"/>
              </a:rPr>
              <a:t>Warsaw, 8</a:t>
            </a:r>
            <a:r>
              <a:rPr lang="en-US" sz="1200" baseline="30000" dirty="0">
                <a:latin typeface="Arial" panose="020B0604020202020204" pitchFamily="34" charset="0"/>
                <a:cs typeface="Arial" panose="020B0604020202020204" pitchFamily="34" charset="0"/>
              </a:rPr>
              <a:t>th</a:t>
            </a:r>
            <a:r>
              <a:rPr lang="en-US" sz="1200" dirty="0">
                <a:latin typeface="Arial" panose="020B0604020202020204" pitchFamily="34" charset="0"/>
                <a:cs typeface="Arial" panose="020B0604020202020204" pitchFamily="34" charset="0"/>
              </a:rPr>
              <a:t> of February 2026</a:t>
            </a:r>
          </a:p>
        </p:txBody>
      </p:sp>
      <p:sp>
        <p:nvSpPr>
          <p:cNvPr id="162" name="Google Shape;162;p1">
            <a:extLst>
              <a:ext uri="{FF2B5EF4-FFF2-40B4-BE49-F238E27FC236}">
                <a16:creationId xmlns:a16="http://schemas.microsoft.com/office/drawing/2014/main" id="{E8E2A95F-CA1F-EF6D-9C93-91DD6B43AB13}"/>
              </a:ext>
            </a:extLst>
          </p:cNvPr>
          <p:cNvSpPr txBox="1"/>
          <p:nvPr/>
        </p:nvSpPr>
        <p:spPr>
          <a:xfrm>
            <a:off x="1583474" y="3587610"/>
            <a:ext cx="6480600" cy="369291"/>
          </a:xfrm>
          <a:prstGeom prst="rect">
            <a:avLst/>
          </a:prstGeom>
          <a:noFill/>
          <a:ln>
            <a:noFill/>
          </a:ln>
        </p:spPr>
        <p:txBody>
          <a:bodyPr spcFirstLastPara="1" wrap="square" lIns="91425" tIns="45700" rIns="91425" bIns="45700" anchor="t" anchorCtr="0">
            <a:spAutoFit/>
          </a:bodyPr>
          <a:lstStyle/>
          <a:p>
            <a:r>
              <a:rPr lang="en-US" sz="1800" dirty="0">
                <a:latin typeface="Arial" panose="020B0604020202020204" pitchFamily="34" charset="0"/>
                <a:cs typeface="Arial" panose="020B0604020202020204" pitchFamily="34" charset="0"/>
              </a:rPr>
              <a:t>Introduction to Reinforcement Learning</a:t>
            </a:r>
          </a:p>
        </p:txBody>
      </p:sp>
      <p:cxnSp>
        <p:nvCxnSpPr>
          <p:cNvPr id="163" name="Google Shape;163;p1">
            <a:extLst>
              <a:ext uri="{FF2B5EF4-FFF2-40B4-BE49-F238E27FC236}">
                <a16:creationId xmlns:a16="http://schemas.microsoft.com/office/drawing/2014/main" id="{D7932C9D-D8FE-74BA-B1AE-96420B78842E}"/>
              </a:ext>
            </a:extLst>
          </p:cNvPr>
          <p:cNvCxnSpPr/>
          <p:nvPr/>
        </p:nvCxnSpPr>
        <p:spPr>
          <a:xfrm>
            <a:off x="1583474" y="3956901"/>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4" name="Google Shape;164;p1">
            <a:extLst>
              <a:ext uri="{FF2B5EF4-FFF2-40B4-BE49-F238E27FC236}">
                <a16:creationId xmlns:a16="http://schemas.microsoft.com/office/drawing/2014/main" id="{5E8D3928-EB85-570D-561E-D39CE676E8D8}"/>
              </a:ext>
            </a:extLst>
          </p:cNvPr>
          <p:cNvSpPr txBox="1"/>
          <p:nvPr/>
        </p:nvSpPr>
        <p:spPr>
          <a:xfrm>
            <a:off x="1583474" y="2650828"/>
            <a:ext cx="7200000" cy="461624"/>
          </a:xfrm>
          <a:prstGeom prst="rect">
            <a:avLst/>
          </a:prstGeom>
          <a:noFill/>
          <a:ln>
            <a:noFill/>
          </a:ln>
        </p:spPr>
        <p:txBody>
          <a:bodyPr spcFirstLastPara="1" wrap="square" lIns="91425" tIns="45700" rIns="91425" bIns="45700" anchor="t" anchorCtr="0">
            <a:spAutoFit/>
          </a:bodyPr>
          <a:lstStyle/>
          <a:p>
            <a:r>
              <a:rPr lang="en-US" sz="2400" b="1" dirty="0">
                <a:latin typeface="+mn-lt"/>
                <a:cs typeface="Arial" panose="020B0604020202020204" pitchFamily="34" charset="0"/>
              </a:rPr>
              <a:t>Taxi using PPO and DQN</a:t>
            </a:r>
          </a:p>
        </p:txBody>
      </p:sp>
      <p:sp>
        <p:nvSpPr>
          <p:cNvPr id="165" name="Google Shape;165;p1">
            <a:extLst>
              <a:ext uri="{FF2B5EF4-FFF2-40B4-BE49-F238E27FC236}">
                <a16:creationId xmlns:a16="http://schemas.microsoft.com/office/drawing/2014/main" id="{AB40D117-33D9-B1F6-1BA2-44E9E54FE90E}"/>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Arial"/>
                <a:ea typeface="Arial"/>
                <a:cs typeface="Arial"/>
                <a:sym typeface="Arial"/>
              </a:rPr>
              <a:t>Piotr Radziszewski, Andrzej Żernaczuk</a:t>
            </a:r>
            <a:endParaRPr lang="en-US" dirty="0"/>
          </a:p>
        </p:txBody>
      </p:sp>
      <p:pic>
        <p:nvPicPr>
          <p:cNvPr id="166" name="Google Shape;166;p1">
            <a:extLst>
              <a:ext uri="{FF2B5EF4-FFF2-40B4-BE49-F238E27FC236}">
                <a16:creationId xmlns:a16="http://schemas.microsoft.com/office/drawing/2014/main" id="{C69A05DB-ED68-77CC-C655-3F9219D6C25C}"/>
              </a:ext>
            </a:extLst>
          </p:cNvPr>
          <p:cNvPicPr preferRelativeResize="0"/>
          <p:nvPr/>
        </p:nvPicPr>
        <p:blipFill rotWithShape="1">
          <a:blip r:embed="rId3">
            <a:alphaModFix/>
          </a:blip>
          <a:srcRect/>
          <a:stretch/>
        </p:blipFill>
        <p:spPr>
          <a:xfrm>
            <a:off x="1490356" y="376370"/>
            <a:ext cx="3958468" cy="1123725"/>
          </a:xfrm>
          <a:prstGeom prst="rect">
            <a:avLst/>
          </a:prstGeom>
          <a:noFill/>
          <a:ln>
            <a:noFill/>
          </a:ln>
        </p:spPr>
      </p:pic>
    </p:spTree>
    <p:extLst>
      <p:ext uri="{BB962C8B-B14F-4D97-AF65-F5344CB8AC3E}">
        <p14:creationId xmlns:p14="http://schemas.microsoft.com/office/powerpoint/2010/main" val="1704891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F69210C-BEC4-A9D6-8163-3774AE5E5F9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C0A2895A-6BFC-AD29-B507-DDF98DDCE8C1}"/>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B6090D9-DBC3-9D17-A73C-0009F684D021}"/>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9430001-C20B-AD2D-F2C3-1485CAB087CF}"/>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52C81CED-1A27-A527-518F-2C51C1586E9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151528F-11A0-D889-74F7-737EE4172A5A}"/>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788C6DDD-58C3-8D33-58CB-A50950095689}"/>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21</a:t>
            </a:r>
            <a:endParaRPr dirty="0"/>
          </a:p>
        </p:txBody>
      </p:sp>
      <p:cxnSp>
        <p:nvCxnSpPr>
          <p:cNvPr id="192" name="Google Shape;192;p3">
            <a:extLst>
              <a:ext uri="{FF2B5EF4-FFF2-40B4-BE49-F238E27FC236}">
                <a16:creationId xmlns:a16="http://schemas.microsoft.com/office/drawing/2014/main" id="{EBE3003E-450B-C667-D17D-35AF0067398F}"/>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B2C08C7-4F3C-4375-1844-294896911A77}"/>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Problem </a:t>
            </a:r>
            <a:r>
              <a:rPr lang="pl-PL" sz="2400" b="1" dirty="0" err="1">
                <a:solidFill>
                  <a:schemeClr val="dk1"/>
                </a:solidFill>
              </a:rPr>
              <a:t>description</a:t>
            </a:r>
            <a:endParaRPr dirty="0"/>
          </a:p>
        </p:txBody>
      </p:sp>
      <p:sp>
        <p:nvSpPr>
          <p:cNvPr id="3" name="Google Shape;210;p4">
            <a:extLst>
              <a:ext uri="{FF2B5EF4-FFF2-40B4-BE49-F238E27FC236}">
                <a16:creationId xmlns:a16="http://schemas.microsoft.com/office/drawing/2014/main" id="{E5D6FA68-4F3B-290C-EFE1-EC620B2F5356}"/>
              </a:ext>
            </a:extLst>
          </p:cNvPr>
          <p:cNvSpPr txBox="1"/>
          <p:nvPr/>
        </p:nvSpPr>
        <p:spPr>
          <a:xfrm>
            <a:off x="1583473" y="1277225"/>
            <a:ext cx="7141271"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Environment: </a:t>
            </a:r>
            <a:r>
              <a:rPr lang="en-US" altLang="en-US" sz="1800" dirty="0">
                <a:solidFill>
                  <a:schemeClr val="tx1"/>
                </a:solidFill>
                <a:latin typeface="Calibri" panose="020F0502020204030204" pitchFamily="34" charset="0"/>
                <a:cs typeface="Calibri" panose="020F0502020204030204" pitchFamily="34" charset="0"/>
              </a:rPr>
              <a:t>Gymnasium Taxi-v3</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GB" sz="1800" dirty="0">
                <a:latin typeface="Calibri" panose="020F0502020204030204" pitchFamily="34" charset="0"/>
                <a:cs typeface="Calibri" panose="020F0502020204030204" pitchFamily="34" charset="0"/>
              </a:rPr>
              <a:t>Small grid‑world navigation task where a taxi must pick up a passenger at one of four fixed locations and drop them off at a target destination. </a:t>
            </a:r>
          </a:p>
          <a:p>
            <a:pPr marL="285750" indent="-285750">
              <a:lnSpc>
                <a:spcPct val="150000"/>
              </a:lnSpc>
              <a:buFont typeface="Arial" panose="020B0604020202020204" pitchFamily="34" charset="0"/>
              <a:buChar char="•"/>
            </a:pPr>
            <a:r>
              <a:rPr lang="en-GB" sz="1800" dirty="0">
                <a:latin typeface="Calibri" panose="020F0502020204030204" pitchFamily="34" charset="0"/>
                <a:cs typeface="Calibri" panose="020F0502020204030204" pitchFamily="34" charset="0"/>
              </a:rPr>
              <a:t>500 discrete states</a:t>
            </a:r>
          </a:p>
          <a:p>
            <a:pPr marL="285750" indent="-285750">
              <a:lnSpc>
                <a:spcPct val="150000"/>
              </a:lnSpc>
              <a:buFont typeface="Arial" panose="020B0604020202020204" pitchFamily="34" charset="0"/>
              <a:buChar char="•"/>
            </a:pPr>
            <a:r>
              <a:rPr lang="en-GB" sz="1800" dirty="0">
                <a:latin typeface="Calibri" panose="020F0502020204030204" pitchFamily="34" charset="0"/>
                <a:cs typeface="Calibri" panose="020F0502020204030204" pitchFamily="34" charset="0"/>
              </a:rPr>
              <a:t>6 actions (move N/S/E/W, pickup, </a:t>
            </a:r>
            <a:r>
              <a:rPr lang="en-GB" sz="1800" dirty="0" err="1">
                <a:latin typeface="Calibri" panose="020F0502020204030204" pitchFamily="34" charset="0"/>
                <a:cs typeface="Calibri" panose="020F0502020204030204" pitchFamily="34" charset="0"/>
              </a:rPr>
              <a:t>dropoff</a:t>
            </a:r>
            <a:r>
              <a:rPr lang="en-GB" sz="1800" dirty="0">
                <a:latin typeface="Calibri" panose="020F0502020204030204" pitchFamily="34" charset="0"/>
                <a:cs typeface="Calibri" panose="020F0502020204030204" pitchFamily="34" charset="0"/>
              </a:rPr>
              <a:t>). </a:t>
            </a:r>
          </a:p>
          <a:p>
            <a:pPr marL="285750" indent="-285750">
              <a:lnSpc>
                <a:spcPct val="150000"/>
              </a:lnSpc>
              <a:buFont typeface="Arial" panose="020B0604020202020204" pitchFamily="34" charset="0"/>
              <a:buChar char="•"/>
            </a:pPr>
            <a:r>
              <a:rPr lang="en-GB" sz="1800" dirty="0">
                <a:latin typeface="Calibri" panose="020F0502020204030204" pitchFamily="34" charset="0"/>
                <a:cs typeface="Calibri" panose="020F0502020204030204" pitchFamily="34" charset="0"/>
              </a:rPr>
              <a:t>Each step costs −1, successful delivery gives +20, and illegal pickup/</a:t>
            </a:r>
            <a:r>
              <a:rPr lang="en-GB" sz="1800" dirty="0" err="1">
                <a:latin typeface="Calibri" panose="020F0502020204030204" pitchFamily="34" charset="0"/>
                <a:cs typeface="Calibri" panose="020F0502020204030204" pitchFamily="34" charset="0"/>
              </a:rPr>
              <a:t>dropoff</a:t>
            </a:r>
            <a:r>
              <a:rPr lang="en-GB" sz="1800" dirty="0">
                <a:latin typeface="Calibri" panose="020F0502020204030204" pitchFamily="34" charset="0"/>
                <a:cs typeface="Calibri" panose="020F0502020204030204" pitchFamily="34" charset="0"/>
              </a:rPr>
              <a:t> gives −10.</a:t>
            </a:r>
          </a:p>
          <a:p>
            <a:pPr marL="285750" indent="-285750">
              <a:lnSpc>
                <a:spcPct val="150000"/>
              </a:lnSpc>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a:p>
            <a:pPr>
              <a:lnSpc>
                <a:spcPct val="150000"/>
              </a:lnSpc>
            </a:pPr>
            <a:r>
              <a:rPr lang="en-GB" sz="1800" dirty="0">
                <a:latin typeface="Calibri" panose="020F0502020204030204" pitchFamily="34" charset="0"/>
                <a:cs typeface="Calibri" panose="020F0502020204030204" pitchFamily="34" charset="0"/>
              </a:rPr>
              <a:t>Everything is run on MacBook Pro with </a:t>
            </a:r>
            <a:r>
              <a:rPr lang="en-GB" sz="1800" b="1" dirty="0">
                <a:latin typeface="Calibri" panose="020F0502020204030204" pitchFamily="34" charset="0"/>
                <a:cs typeface="Calibri" panose="020F0502020204030204" pitchFamily="34" charset="0"/>
              </a:rPr>
              <a:t>M2 pro 10c </a:t>
            </a:r>
            <a:r>
              <a:rPr lang="en-GB" sz="1800" dirty="0">
                <a:latin typeface="Calibri" panose="020F0502020204030204" pitchFamily="34" charset="0"/>
                <a:cs typeface="Calibri" panose="020F0502020204030204" pitchFamily="34" charset="0"/>
              </a:rPr>
              <a:t>CPU and </a:t>
            </a:r>
            <a:r>
              <a:rPr lang="en-GB" sz="1800" b="1" dirty="0">
                <a:latin typeface="Calibri" panose="020F0502020204030204" pitchFamily="34" charset="0"/>
                <a:cs typeface="Calibri" panose="020F0502020204030204" pitchFamily="34" charset="0"/>
              </a:rPr>
              <a:t>32GB</a:t>
            </a:r>
            <a:r>
              <a:rPr lang="en-GB" sz="1800" dirty="0">
                <a:latin typeface="Calibri" panose="020F0502020204030204" pitchFamily="34" charset="0"/>
                <a:cs typeface="Calibri" panose="020F0502020204030204" pitchFamily="34" charset="0"/>
              </a:rPr>
              <a:t> RAM.</a:t>
            </a:r>
          </a:p>
        </p:txBody>
      </p:sp>
    </p:spTree>
    <p:extLst>
      <p:ext uri="{BB962C8B-B14F-4D97-AF65-F5344CB8AC3E}">
        <p14:creationId xmlns:p14="http://schemas.microsoft.com/office/powerpoint/2010/main" val="3376375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57F987AA-DF75-565B-BD72-8FEF0BC6775A}"/>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617AEC14-785F-0775-30EE-AD6D9184AF1C}"/>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6A134F3E-85DA-882D-E56A-01CBBC8B9E2B}"/>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F91403B3-1DC1-2911-2984-B91384C1610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B60DA708-FCF8-7C6B-58F3-086C5F505CE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CCCB529-5B22-5142-E01E-896AD059A116}"/>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17DE07EC-28B7-D86D-5DB9-CF1CFC20F0C3}"/>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22</a:t>
            </a:r>
            <a:endParaRPr dirty="0"/>
          </a:p>
        </p:txBody>
      </p:sp>
      <p:cxnSp>
        <p:nvCxnSpPr>
          <p:cNvPr id="192" name="Google Shape;192;p3">
            <a:extLst>
              <a:ext uri="{FF2B5EF4-FFF2-40B4-BE49-F238E27FC236}">
                <a16:creationId xmlns:a16="http://schemas.microsoft.com/office/drawing/2014/main" id="{64D6E8F3-EAF5-EF9E-39E1-AFF228FCF8C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83902439-BF0D-5407-E497-9004A5BC85D5}"/>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Environment</a:t>
            </a:r>
            <a:endParaRPr dirty="0"/>
          </a:p>
        </p:txBody>
      </p:sp>
      <p:sp>
        <p:nvSpPr>
          <p:cNvPr id="2" name="Google Shape;210;p4">
            <a:extLst>
              <a:ext uri="{FF2B5EF4-FFF2-40B4-BE49-F238E27FC236}">
                <a16:creationId xmlns:a16="http://schemas.microsoft.com/office/drawing/2014/main" id="{C2BE51AB-8629-C402-9246-26F0891C946B}"/>
              </a:ext>
            </a:extLst>
          </p:cNvPr>
          <p:cNvSpPr txBox="1"/>
          <p:nvPr/>
        </p:nvSpPr>
        <p:spPr>
          <a:xfrm>
            <a:off x="1583474" y="1485569"/>
            <a:ext cx="6784670" cy="38317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panose="020F0502020204030204" pitchFamily="34" charset="0"/>
                <a:ea typeface="Calibri"/>
                <a:cs typeface="Calibri" panose="020F0502020204030204" pitchFamily="34" charset="0"/>
                <a:sym typeface="Calibri"/>
              </a:rPr>
              <a:t>Starting</a:t>
            </a:r>
            <a:r>
              <a:rPr lang="pl-PL" sz="1800" b="1" dirty="0">
                <a:solidFill>
                  <a:schemeClr val="dk1"/>
                </a:solidFill>
                <a:latin typeface="Calibri" panose="020F0502020204030204" pitchFamily="34" charset="0"/>
                <a:ea typeface="Calibri"/>
                <a:cs typeface="Calibri" panose="020F0502020204030204" pitchFamily="34" charset="0"/>
                <a:sym typeface="Calibri"/>
              </a:rPr>
              <a:t> </a:t>
            </a:r>
            <a:r>
              <a:rPr lang="pl-PL" sz="1800" b="1" dirty="0" err="1">
                <a:solidFill>
                  <a:schemeClr val="dk1"/>
                </a:solidFill>
                <a:latin typeface="Calibri" panose="020F0502020204030204" pitchFamily="34" charset="0"/>
                <a:ea typeface="Calibri"/>
                <a:cs typeface="Calibri" panose="020F0502020204030204" pitchFamily="34" charset="0"/>
                <a:sym typeface="Calibri"/>
              </a:rPr>
              <a:t>state</a:t>
            </a:r>
            <a:r>
              <a:rPr lang="pl-PL" sz="1800" b="1" dirty="0">
                <a:solidFill>
                  <a:schemeClr val="dk1"/>
                </a:solidFill>
                <a:latin typeface="Calibri" panose="020F0502020204030204" pitchFamily="34" charset="0"/>
                <a:ea typeface="Calibri"/>
                <a:cs typeface="Calibri" panose="020F0502020204030204" pitchFamily="34" charset="0"/>
                <a:sym typeface="Calibri"/>
              </a:rPr>
              <a:t>:</a:t>
            </a:r>
          </a:p>
          <a:p>
            <a:pPr marL="571500" indent="-285750">
              <a:lnSpc>
                <a:spcPct val="150000"/>
              </a:lnSpc>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Taxi </a:t>
            </a:r>
            <a:r>
              <a:rPr lang="pl-PL" sz="1800" dirty="0" err="1">
                <a:solidFill>
                  <a:schemeClr val="dk1"/>
                </a:solidFill>
                <a:latin typeface="Calibri" panose="020F0502020204030204" pitchFamily="34" charset="0"/>
                <a:ea typeface="Calibri"/>
                <a:cs typeface="Calibri" panose="020F0502020204030204" pitchFamily="34" charset="0"/>
                <a:sym typeface="Calibri"/>
              </a:rPr>
              <a:t>is</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placed</a:t>
            </a:r>
            <a:r>
              <a:rPr lang="pl-PL" sz="1800" dirty="0">
                <a:solidFill>
                  <a:schemeClr val="dk1"/>
                </a:solidFill>
                <a:latin typeface="Calibri" panose="020F0502020204030204" pitchFamily="34" charset="0"/>
                <a:ea typeface="Calibri"/>
                <a:cs typeface="Calibri" panose="020F0502020204030204" pitchFamily="34" charset="0"/>
                <a:sym typeface="Calibri"/>
              </a:rPr>
              <a:t> in one of 25 </a:t>
            </a:r>
            <a:r>
              <a:rPr lang="pl-PL" sz="1800" dirty="0" err="1">
                <a:solidFill>
                  <a:schemeClr val="dk1"/>
                </a:solidFill>
                <a:latin typeface="Calibri" panose="020F0502020204030204" pitchFamily="34" charset="0"/>
                <a:ea typeface="Calibri"/>
                <a:cs typeface="Calibri" panose="020F0502020204030204" pitchFamily="34" charset="0"/>
                <a:sym typeface="Calibri"/>
              </a:rPr>
              <a:t>grid</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cells</a:t>
            </a:r>
            <a:endParaRPr lang="pl-PL" sz="1800" dirty="0">
              <a:solidFill>
                <a:schemeClr val="dk1"/>
              </a:solidFill>
              <a:latin typeface="Calibri" panose="020F0502020204030204" pitchFamily="34" charset="0"/>
              <a:ea typeface="Calibri"/>
              <a:cs typeface="Calibri" panose="020F0502020204030204" pitchFamily="34" charset="0"/>
              <a:sym typeface="Calibri"/>
            </a:endParaRPr>
          </a:p>
          <a:p>
            <a:pPr marL="571500" indent="-285750">
              <a:lnSpc>
                <a:spcPct val="150000"/>
              </a:lnSpc>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The </a:t>
            </a:r>
            <a:r>
              <a:rPr lang="pl-PL" sz="1800" dirty="0" err="1">
                <a:solidFill>
                  <a:schemeClr val="dk1"/>
                </a:solidFill>
                <a:latin typeface="Calibri" panose="020F0502020204030204" pitchFamily="34" charset="0"/>
                <a:ea typeface="Calibri"/>
                <a:cs typeface="Calibri" panose="020F0502020204030204" pitchFamily="34" charset="0"/>
                <a:sym typeface="Calibri"/>
              </a:rPr>
              <a:t>passenger</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is</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located</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at</a:t>
            </a:r>
            <a:r>
              <a:rPr lang="pl-PL" sz="1800" dirty="0">
                <a:solidFill>
                  <a:schemeClr val="dk1"/>
                </a:solidFill>
                <a:latin typeface="Calibri" panose="020F0502020204030204" pitchFamily="34" charset="0"/>
                <a:ea typeface="Calibri"/>
                <a:cs typeface="Calibri" panose="020F0502020204030204" pitchFamily="34" charset="0"/>
                <a:sym typeface="Calibri"/>
              </a:rPr>
              <a:t> one of </a:t>
            </a:r>
            <a:r>
              <a:rPr lang="pl-PL" sz="1800" dirty="0" err="1">
                <a:solidFill>
                  <a:schemeClr val="dk1"/>
                </a:solidFill>
                <a:latin typeface="Calibri" panose="020F0502020204030204" pitchFamily="34" charset="0"/>
                <a:ea typeface="Calibri"/>
                <a:cs typeface="Calibri" panose="020F0502020204030204" pitchFamily="34" charset="0"/>
                <a:sym typeface="Calibri"/>
              </a:rPr>
              <a:t>four</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fixed</a:t>
            </a:r>
            <a:r>
              <a:rPr lang="pl-PL" sz="1800" dirty="0">
                <a:solidFill>
                  <a:schemeClr val="dk1"/>
                </a:solidFill>
                <a:latin typeface="Calibri" panose="020F0502020204030204" pitchFamily="34" charset="0"/>
                <a:ea typeface="Calibri"/>
                <a:cs typeface="Calibri" panose="020F0502020204030204" pitchFamily="34" charset="0"/>
                <a:sym typeface="Calibri"/>
              </a:rPr>
              <a:t> pickup </a:t>
            </a:r>
            <a:r>
              <a:rPr lang="pl-PL" sz="1800" dirty="0" err="1">
                <a:solidFill>
                  <a:schemeClr val="dk1"/>
                </a:solidFill>
                <a:latin typeface="Calibri" panose="020F0502020204030204" pitchFamily="34" charset="0"/>
                <a:ea typeface="Calibri"/>
                <a:cs typeface="Calibri" panose="020F0502020204030204" pitchFamily="34" charset="0"/>
                <a:sym typeface="Calibri"/>
              </a:rPr>
              <a:t>spots</a:t>
            </a:r>
            <a:r>
              <a:rPr lang="pl-PL" sz="1800" dirty="0">
                <a:solidFill>
                  <a:schemeClr val="dk1"/>
                </a:solidFill>
                <a:latin typeface="Calibri" panose="020F0502020204030204" pitchFamily="34" charset="0"/>
                <a:ea typeface="Calibri"/>
                <a:cs typeface="Calibri" panose="020F0502020204030204" pitchFamily="34" charset="0"/>
                <a:sym typeface="Calibri"/>
              </a:rPr>
              <a:t> (R, G, Y, B)</a:t>
            </a:r>
          </a:p>
          <a:p>
            <a:pPr marL="571500" indent="-285750">
              <a:lnSpc>
                <a:spcPct val="150000"/>
              </a:lnSpc>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The </a:t>
            </a:r>
            <a:r>
              <a:rPr lang="pl-PL" sz="1800" dirty="0" err="1">
                <a:solidFill>
                  <a:schemeClr val="dk1"/>
                </a:solidFill>
                <a:latin typeface="Calibri" panose="020F0502020204030204" pitchFamily="34" charset="0"/>
                <a:ea typeface="Calibri"/>
                <a:cs typeface="Calibri" panose="020F0502020204030204" pitchFamily="34" charset="0"/>
                <a:sym typeface="Calibri"/>
              </a:rPr>
              <a:t>destination</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is</a:t>
            </a:r>
            <a:r>
              <a:rPr lang="pl-PL" sz="1800" dirty="0">
                <a:solidFill>
                  <a:schemeClr val="dk1"/>
                </a:solidFill>
                <a:latin typeface="Calibri" panose="020F0502020204030204" pitchFamily="34" charset="0"/>
                <a:ea typeface="Calibri"/>
                <a:cs typeface="Calibri" panose="020F0502020204030204" pitchFamily="34" charset="0"/>
                <a:sym typeface="Calibri"/>
              </a:rPr>
              <a:t> one of </a:t>
            </a:r>
            <a:r>
              <a:rPr lang="pl-PL" sz="1800" dirty="0" err="1">
                <a:solidFill>
                  <a:schemeClr val="dk1"/>
                </a:solidFill>
                <a:latin typeface="Calibri" panose="020F0502020204030204" pitchFamily="34" charset="0"/>
                <a:ea typeface="Calibri"/>
                <a:cs typeface="Calibri" panose="020F0502020204030204" pitchFamily="34" charset="0"/>
                <a:sym typeface="Calibri"/>
              </a:rPr>
              <a:t>those</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four</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spots</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chosen</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independently</a:t>
            </a:r>
            <a:r>
              <a:rPr lang="pl-PL" sz="1800" dirty="0">
                <a:solidFill>
                  <a:schemeClr val="dk1"/>
                </a:solidFill>
                <a:latin typeface="Calibri" panose="020F0502020204030204" pitchFamily="34" charset="0"/>
                <a:ea typeface="Calibri"/>
                <a:cs typeface="Calibri" panose="020F0502020204030204" pitchFamily="34" charset="0"/>
                <a:sym typeface="Calibri"/>
              </a:rPr>
              <a:t>)</a:t>
            </a:r>
          </a:p>
          <a:p>
            <a:pPr marL="11113">
              <a:lnSpc>
                <a:spcPct val="150000"/>
              </a:lnSpc>
              <a:buClr>
                <a:schemeClr val="dk1"/>
              </a:buClr>
              <a:buSzPts val="1800"/>
            </a:pPr>
            <a:endParaRPr lang="en-US" sz="1800" dirty="0">
              <a:latin typeface="Calibri" panose="020F0502020204030204" pitchFamily="34" charset="0"/>
              <a:cs typeface="Calibri" panose="020F0502020204030204" pitchFamily="34" charset="0"/>
            </a:endParaRPr>
          </a:p>
          <a:p>
            <a:pPr marL="296863" indent="-285750">
              <a:lnSpc>
                <a:spcPct val="150000"/>
              </a:lnSpc>
              <a:buClr>
                <a:schemeClr val="dk1"/>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The observation encodes the taxi position, passenger location, and destination into a single discrete state.</a:t>
            </a:r>
          </a:p>
        </p:txBody>
      </p:sp>
    </p:spTree>
    <p:extLst>
      <p:ext uri="{BB962C8B-B14F-4D97-AF65-F5344CB8AC3E}">
        <p14:creationId xmlns:p14="http://schemas.microsoft.com/office/powerpoint/2010/main" val="1853208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7F8197E2-01A9-0DF9-0C25-84A13CB977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6087E5-B5F1-C1A0-A455-69CE040299B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61818AF2-9CB9-339D-D83E-C353EED358A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BECF84F-5AC7-6D46-A383-5849169DFA5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778E87F9-7235-E502-551B-E9D25E270E4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58D2402-7C36-82DE-884D-DE167632FDA5}"/>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F3E7D353-4DC9-8FF1-5F26-1977E19B768E}"/>
              </a:ext>
            </a:extLst>
          </p:cNvPr>
          <p:cNvSpPr txBox="1"/>
          <p:nvPr/>
        </p:nvSpPr>
        <p:spPr>
          <a:xfrm>
            <a:off x="576527" y="6042029"/>
            <a:ext cx="32078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23</a:t>
            </a:r>
            <a:endParaRPr dirty="0"/>
          </a:p>
        </p:txBody>
      </p:sp>
      <p:cxnSp>
        <p:nvCxnSpPr>
          <p:cNvPr id="192" name="Google Shape;192;p3">
            <a:extLst>
              <a:ext uri="{FF2B5EF4-FFF2-40B4-BE49-F238E27FC236}">
                <a16:creationId xmlns:a16="http://schemas.microsoft.com/office/drawing/2014/main" id="{26F54CAF-8175-3018-2C28-1E4A0E727CBB}"/>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5CAD1E9-899E-1741-7102-DBAA5AFAC7A7}"/>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r>
              <a:rPr lang="pl-PL" sz="2400" b="1" dirty="0" err="1">
                <a:solidFill>
                  <a:schemeClr val="dk1"/>
                </a:solidFill>
                <a:latin typeface="Arial"/>
                <a:ea typeface="Arial"/>
                <a:cs typeface="Arial"/>
                <a:sym typeface="Arial"/>
              </a:rPr>
              <a:t>cont’d</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1D7964D5-CEFF-70D7-E66B-13FC2F8DFEE7}"/>
              </a:ext>
            </a:extLst>
          </p:cNvPr>
          <p:cNvSpPr txBox="1"/>
          <p:nvPr/>
        </p:nvSpPr>
        <p:spPr>
          <a:xfrm>
            <a:off x="1583474" y="1314363"/>
            <a:ext cx="6784670" cy="466277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Actions</a:t>
            </a:r>
            <a:r>
              <a:rPr lang="pl-PL" sz="1800" b="1" dirty="0">
                <a:solidFill>
                  <a:schemeClr val="dk1"/>
                </a:solidFill>
                <a:latin typeface="Calibri"/>
                <a:ea typeface="Calibri"/>
                <a:cs typeface="Calibri"/>
                <a:sym typeface="Calibri"/>
              </a:rPr>
              <a:t>:</a:t>
            </a:r>
            <a:endParaRPr lang="pl-PL" sz="1800" dirty="0">
              <a:solidFill>
                <a:schemeClr val="dk1"/>
              </a:solidFill>
              <a:latin typeface="Calibri"/>
              <a:ea typeface="Calibri"/>
              <a:cs typeface="Calibri"/>
              <a:sym typeface="Calibri"/>
            </a:endParaRP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0: </a:t>
            </a:r>
            <a:r>
              <a:rPr lang="pl-PL" sz="1800" dirty="0" err="1">
                <a:solidFill>
                  <a:schemeClr val="dk1"/>
                </a:solidFill>
                <a:latin typeface="Calibri"/>
                <a:ea typeface="Calibri"/>
                <a:cs typeface="Calibri"/>
                <a:sym typeface="Calibri"/>
              </a:rPr>
              <a:t>South</a:t>
            </a:r>
            <a:endParaRPr lang="pl-PL" sz="1800" dirty="0">
              <a:solidFill>
                <a:schemeClr val="dk1"/>
              </a:solidFill>
              <a:latin typeface="Calibri"/>
              <a:ea typeface="Calibri"/>
              <a:cs typeface="Calibri"/>
              <a:sym typeface="Calibri"/>
            </a:endParaRP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1: </a:t>
            </a:r>
            <a:r>
              <a:rPr lang="pl-PL" sz="1800" dirty="0" err="1">
                <a:solidFill>
                  <a:schemeClr val="dk1"/>
                </a:solidFill>
                <a:latin typeface="Calibri"/>
                <a:ea typeface="Calibri"/>
                <a:cs typeface="Calibri"/>
                <a:sym typeface="Calibri"/>
              </a:rPr>
              <a:t>North</a:t>
            </a:r>
            <a:endParaRPr lang="pl-PL" sz="1800" dirty="0">
              <a:solidFill>
                <a:schemeClr val="dk1"/>
              </a:solidFill>
              <a:latin typeface="Calibri"/>
              <a:ea typeface="Calibri"/>
              <a:cs typeface="Calibri"/>
              <a:sym typeface="Calibri"/>
            </a:endParaRP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2: East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3: West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4: Pickup</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5: </a:t>
            </a:r>
            <a:r>
              <a:rPr lang="pl-PL" sz="1800" dirty="0" err="1">
                <a:solidFill>
                  <a:schemeClr val="dk1"/>
                </a:solidFill>
                <a:latin typeface="Calibri"/>
                <a:ea typeface="Calibri"/>
                <a:cs typeface="Calibri"/>
                <a:sym typeface="Calibri"/>
              </a:rPr>
              <a:t>Dropoff</a:t>
            </a:r>
            <a:br>
              <a:rPr lang="pl-PL" sz="1800" dirty="0">
                <a:solidFill>
                  <a:schemeClr val="dk1"/>
                </a:solidFill>
                <a:latin typeface="Calibri"/>
                <a:ea typeface="Calibri"/>
                <a:cs typeface="Calibri"/>
                <a:sym typeface="Calibri"/>
              </a:rPr>
            </a:br>
            <a:endParaRPr lang="pl-PL" sz="1800" dirty="0">
              <a:solidFill>
                <a:schemeClr val="dk1"/>
              </a:solidFill>
              <a:latin typeface="Calibri"/>
              <a:ea typeface="Calibri"/>
              <a:cs typeface="Calibri"/>
              <a:sym typeface="Calibri"/>
            </a:endParaRPr>
          </a:p>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Episode</a:t>
            </a:r>
            <a:r>
              <a:rPr lang="pl-PL" sz="1800" b="1" dirty="0">
                <a:solidFill>
                  <a:schemeClr val="dk1"/>
                </a:solidFill>
                <a:latin typeface="Calibri"/>
                <a:ea typeface="Calibri"/>
                <a:cs typeface="Calibri"/>
                <a:sym typeface="Calibri"/>
              </a:rPr>
              <a:t> </a:t>
            </a:r>
            <a:r>
              <a:rPr lang="pl-PL" sz="1800" b="1" dirty="0" err="1">
                <a:solidFill>
                  <a:schemeClr val="dk1"/>
                </a:solidFill>
                <a:latin typeface="Calibri"/>
                <a:ea typeface="Calibri"/>
                <a:cs typeface="Calibri"/>
                <a:sym typeface="Calibri"/>
              </a:rPr>
              <a:t>ends</a:t>
            </a:r>
            <a:r>
              <a:rPr lang="pl-PL" sz="1800" b="1"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a:ea typeface="Calibri"/>
                <a:cs typeface="Calibri"/>
                <a:sym typeface="Calibri"/>
              </a:rPr>
              <a:t>Successful</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dropoff</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at</a:t>
            </a:r>
            <a:r>
              <a:rPr lang="pl-PL" sz="1800" dirty="0">
                <a:solidFill>
                  <a:schemeClr val="dk1"/>
                </a:solidFill>
                <a:latin typeface="Calibri"/>
                <a:ea typeface="Calibri"/>
                <a:cs typeface="Calibri"/>
                <a:sym typeface="Calibri"/>
              </a:rPr>
              <a:t> the </a:t>
            </a:r>
            <a:r>
              <a:rPr lang="pl-PL" sz="1800" dirty="0" err="1">
                <a:solidFill>
                  <a:schemeClr val="dk1"/>
                </a:solidFill>
                <a:latin typeface="Calibri"/>
                <a:ea typeface="Calibri"/>
                <a:cs typeface="Calibri"/>
                <a:sym typeface="Calibri"/>
              </a:rPr>
              <a:t>correct</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destination</a:t>
            </a:r>
            <a:r>
              <a:rPr lang="pl-PL" sz="1800"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Max </a:t>
            </a:r>
            <a:r>
              <a:rPr lang="pl-PL" sz="1800" dirty="0" err="1">
                <a:solidFill>
                  <a:schemeClr val="dk1"/>
                </a:solidFill>
                <a:latin typeface="Calibri"/>
                <a:ea typeface="Calibri"/>
                <a:cs typeface="Calibri"/>
                <a:sym typeface="Calibri"/>
              </a:rPr>
              <a:t>steps</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reached</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time</a:t>
            </a:r>
            <a:r>
              <a:rPr lang="pl-PL" sz="1800" dirty="0">
                <a:solidFill>
                  <a:schemeClr val="dk1"/>
                </a:solidFill>
                <a:latin typeface="Calibri"/>
                <a:ea typeface="Calibri"/>
                <a:cs typeface="Calibri"/>
                <a:sym typeface="Calibri"/>
              </a:rPr>
              <a:t> limit).</a:t>
            </a:r>
          </a:p>
        </p:txBody>
      </p:sp>
    </p:spTree>
    <p:extLst>
      <p:ext uri="{BB962C8B-B14F-4D97-AF65-F5344CB8AC3E}">
        <p14:creationId xmlns:p14="http://schemas.microsoft.com/office/powerpoint/2010/main" val="3171948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EE25391-85AE-6969-FAA7-2BCB8D1A065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F21FC9AD-388F-3954-8688-1BFEC0E32CB3}"/>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D98D8514-1FFA-2152-F33D-10773A14BD7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10AF9B12-B2E4-AFBE-32A5-AEA3F4D836D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51683F17-F3E5-8282-2531-4F010BBD595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3575D98A-E362-77C0-756D-59B3CC9309F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F4B56946-1B02-1FC4-2579-C1FB521F9FB5}"/>
              </a:ext>
            </a:extLst>
          </p:cNvPr>
          <p:cNvSpPr txBox="1"/>
          <p:nvPr/>
        </p:nvSpPr>
        <p:spPr>
          <a:xfrm>
            <a:off x="576527" y="6042029"/>
            <a:ext cx="503472"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24</a:t>
            </a:r>
            <a:endParaRPr dirty="0"/>
          </a:p>
        </p:txBody>
      </p:sp>
      <p:cxnSp>
        <p:nvCxnSpPr>
          <p:cNvPr id="192" name="Google Shape;192;p3">
            <a:extLst>
              <a:ext uri="{FF2B5EF4-FFF2-40B4-BE49-F238E27FC236}">
                <a16:creationId xmlns:a16="http://schemas.microsoft.com/office/drawing/2014/main" id="{3FE2D4FD-B152-B4BC-CE7F-4010DF5DB79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695D4DD5-2368-1F17-0CC6-E278636AB300}"/>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latin typeface="Arial"/>
                <a:ea typeface="Arial"/>
                <a:cs typeface="Arial"/>
                <a:sym typeface="Arial"/>
              </a:rPr>
              <a:t>Reward</a:t>
            </a:r>
            <a:r>
              <a:rPr lang="pl-PL" sz="2400" b="1" dirty="0">
                <a:solidFill>
                  <a:schemeClr val="dk1"/>
                </a:solidFill>
                <a:latin typeface="Arial"/>
                <a:ea typeface="Arial"/>
                <a:cs typeface="Arial"/>
                <a:sym typeface="Arial"/>
              </a:rPr>
              <a:t> </a:t>
            </a:r>
            <a:r>
              <a:rPr lang="pl-PL" sz="2400" b="1" dirty="0" err="1">
                <a:solidFill>
                  <a:schemeClr val="dk1"/>
                </a:solidFill>
                <a:latin typeface="Arial"/>
                <a:ea typeface="Arial"/>
                <a:cs typeface="Arial"/>
                <a:sym typeface="Arial"/>
              </a:rPr>
              <a:t>functions</a:t>
            </a:r>
            <a:endParaRPr dirty="0"/>
          </a:p>
        </p:txBody>
      </p:sp>
      <p:sp>
        <p:nvSpPr>
          <p:cNvPr id="6" name="Google Shape;210;p4">
            <a:extLst>
              <a:ext uri="{FF2B5EF4-FFF2-40B4-BE49-F238E27FC236}">
                <a16:creationId xmlns:a16="http://schemas.microsoft.com/office/drawing/2014/main" id="{CE5EED05-3FAE-3E37-A3BD-1B8BBB205961}"/>
              </a:ext>
            </a:extLst>
          </p:cNvPr>
          <p:cNvSpPr txBox="1"/>
          <p:nvPr/>
        </p:nvSpPr>
        <p:spPr>
          <a:xfrm>
            <a:off x="1583474" y="1289767"/>
            <a:ext cx="6784670" cy="5493771"/>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We tested four reward functions:</a:t>
            </a:r>
          </a:p>
          <a:p>
            <a:pPr marL="720725" lvl="3"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Default</a:t>
            </a:r>
            <a:r>
              <a:rPr lang="en-US" sz="1800" dirty="0">
                <a:latin typeface="Calibri" panose="020F0502020204030204" pitchFamily="34" charset="0"/>
                <a:cs typeface="Calibri" panose="020F0502020204030204" pitchFamily="34" charset="0"/>
              </a:rPr>
              <a:t>: original Taxi rewards</a:t>
            </a:r>
          </a:p>
          <a:p>
            <a:pPr marL="720725" lvl="1"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Distance‑Based</a:t>
            </a:r>
            <a:r>
              <a:rPr lang="en-US" sz="1800" dirty="0">
                <a:latin typeface="Calibri" panose="020F0502020204030204" pitchFamily="34" charset="0"/>
                <a:cs typeface="Calibri" panose="020F0502020204030204" pitchFamily="34" charset="0"/>
              </a:rPr>
              <a:t>: extended with +0.1 for moving closer to target and -0.1 for moving away from target.</a:t>
            </a:r>
          </a:p>
          <a:p>
            <a:pPr marL="720725"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Modified Penalty</a:t>
            </a:r>
            <a:r>
              <a:rPr lang="en-US" sz="1800" dirty="0">
                <a:latin typeface="Calibri" panose="020F0502020204030204" pitchFamily="34" charset="0"/>
                <a:cs typeface="Calibri" panose="020F0502020204030204" pitchFamily="34" charset="0"/>
              </a:rPr>
              <a:t>: reduced step penalty to -0.5.</a:t>
            </a:r>
          </a:p>
          <a:p>
            <a:pPr marL="720725" lvl="1"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Enhanced</a:t>
            </a:r>
            <a:r>
              <a:rPr lang="en-US" sz="1800" dirty="0">
                <a:latin typeface="Calibri" panose="020F0502020204030204" pitchFamily="34" charset="0"/>
                <a:cs typeface="Calibri" panose="020F0502020204030204" pitchFamily="34" charset="0"/>
              </a:rPr>
              <a:t>: step penalty unchanged, +25 for successful delivery, -5 for illegal pickup/</a:t>
            </a:r>
            <a:r>
              <a:rPr lang="en-US" sz="1800" dirty="0" err="1">
                <a:latin typeface="Calibri" panose="020F0502020204030204" pitchFamily="34" charset="0"/>
                <a:cs typeface="Calibri" panose="020F0502020204030204" pitchFamily="34" charset="0"/>
              </a:rPr>
              <a:t>dropoff</a:t>
            </a:r>
            <a:r>
              <a:rPr lang="en-US" sz="1800" dirty="0">
                <a:latin typeface="Calibri" panose="020F0502020204030204" pitchFamily="34" charset="0"/>
                <a:cs typeface="Calibri" panose="020F0502020204030204" pitchFamily="34" charset="0"/>
              </a:rPr>
              <a:t>, +0.2 for moving closer to target, -0.2 for moving away from target, +2 for successful pickup.</a:t>
            </a:r>
          </a:p>
          <a:p>
            <a:pPr marL="720725" lvl="1" indent="-285750">
              <a:lnSpc>
                <a:spcPct val="150000"/>
              </a:lnSpc>
              <a:buFont typeface="Wingdings" pitchFamily="2" charset="2"/>
              <a:buChar char="§"/>
            </a:pPr>
            <a:endParaRPr lang="en-US" sz="1800" dirty="0">
              <a:latin typeface="Calibri" panose="020F0502020204030204" pitchFamily="34" charset="0"/>
              <a:cs typeface="Calibri" panose="020F0502020204030204" pitchFamily="34" charset="0"/>
            </a:endParaRP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Evaluation is always on default reward to avoid bias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5273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EEF0DF9-58BB-446E-4105-D84C409EB97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8984D3F-6AB2-2C69-AE22-37F41A069C4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011B392-6BFF-78DD-DA75-81108E749E6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05D0FE8-D45F-2D44-074C-4589EFDC5C7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643FAEC-1767-D4AF-EB3E-64652AD887F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BD2B85B9-BA93-8575-575F-2C1A26AAA0E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1166B80-6D28-649C-3038-252D6308C22B}"/>
              </a:ext>
            </a:extLst>
          </p:cNvPr>
          <p:cNvSpPr txBox="1"/>
          <p:nvPr/>
        </p:nvSpPr>
        <p:spPr>
          <a:xfrm>
            <a:off x="576527" y="6042029"/>
            <a:ext cx="32077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25</a:t>
            </a:r>
            <a:endParaRPr dirty="0"/>
          </a:p>
        </p:txBody>
      </p:sp>
      <p:cxnSp>
        <p:nvCxnSpPr>
          <p:cNvPr id="192" name="Google Shape;192;p3">
            <a:extLst>
              <a:ext uri="{FF2B5EF4-FFF2-40B4-BE49-F238E27FC236}">
                <a16:creationId xmlns:a16="http://schemas.microsoft.com/office/drawing/2014/main" id="{B3136AE9-E526-3EBE-212B-B5FE96037A0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459DD5C-1B16-0CDA-8C3B-C721A33F577C}"/>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Model </a:t>
            </a:r>
            <a:r>
              <a:rPr lang="pl-PL" sz="2400" b="1" dirty="0" err="1">
                <a:solidFill>
                  <a:schemeClr val="dk1"/>
                </a:solidFill>
              </a:rPr>
              <a:t>size</a:t>
            </a:r>
            <a:r>
              <a:rPr lang="pl-PL" sz="2400" b="1" dirty="0">
                <a:solidFill>
                  <a:schemeClr val="dk1"/>
                </a:solidFill>
              </a:rPr>
              <a:t> / </a:t>
            </a:r>
            <a:r>
              <a:rPr lang="pl-PL" sz="2400" b="1" dirty="0" err="1">
                <a:solidFill>
                  <a:schemeClr val="dk1"/>
                </a:solidFill>
              </a:rPr>
              <a:t>Parameters</a:t>
            </a:r>
            <a:endParaRPr lang="pl-PL" sz="2400" b="1" dirty="0">
              <a:solidFill>
                <a:schemeClr val="dk1"/>
              </a:solidFill>
            </a:endParaRPr>
          </a:p>
        </p:txBody>
      </p:sp>
      <p:sp>
        <p:nvSpPr>
          <p:cNvPr id="2" name="Google Shape;210;p4">
            <a:extLst>
              <a:ext uri="{FF2B5EF4-FFF2-40B4-BE49-F238E27FC236}">
                <a16:creationId xmlns:a16="http://schemas.microsoft.com/office/drawing/2014/main" id="{36233F8F-75F5-5A01-5C12-5D18846BF5C3}"/>
              </a:ext>
            </a:extLst>
          </p:cNvPr>
          <p:cNvSpPr txBox="1"/>
          <p:nvPr/>
        </p:nvSpPr>
        <p:spPr>
          <a:xfrm>
            <a:off x="1583473" y="1289767"/>
            <a:ext cx="7075325" cy="3831778"/>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PPO</a:t>
            </a:r>
            <a:r>
              <a:rPr lang="en-US" sz="1800" dirty="0">
                <a:latin typeface="Calibri" panose="020F0502020204030204" pitchFamily="34" charset="0"/>
                <a:cs typeface="Calibri" panose="020F0502020204030204" pitchFamily="34" charset="0"/>
              </a:rPr>
              <a:t>:</a:t>
            </a:r>
          </a:p>
          <a:p>
            <a:pPr marL="590550"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Observation: 19‑dim (</a:t>
            </a:r>
            <a:r>
              <a:rPr lang="en-US" sz="1800" dirty="0" err="1">
                <a:latin typeface="Calibri" panose="020F0502020204030204" pitchFamily="34" charset="0"/>
                <a:cs typeface="Calibri" panose="020F0502020204030204" pitchFamily="34" charset="0"/>
              </a:rPr>
              <a:t>TaxiFeatureWrapper</a:t>
            </a:r>
            <a:r>
              <a:rPr lang="en-US" sz="1800" dirty="0">
                <a:latin typeface="Calibri" panose="020F0502020204030204" pitchFamily="34" charset="0"/>
                <a:cs typeface="Calibri" panose="020F0502020204030204" pitchFamily="34" charset="0"/>
              </a:rPr>
              <a:t>), Actions: 6</a:t>
            </a:r>
          </a:p>
          <a:p>
            <a:pPr marL="590550"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Architecture: shared MLP 256×256 + separate policy/value heads</a:t>
            </a:r>
          </a:p>
          <a:p>
            <a:pPr marL="590550"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Parameter count: 72,711</a:t>
            </a:r>
          </a:p>
          <a:p>
            <a:pPr marL="285750" indent="-285750">
              <a:lnSpc>
                <a:spcPct val="150000"/>
              </a:lnSpc>
              <a:buFont typeface="Arial" panose="020B0604020202020204" pitchFamily="34" charset="0"/>
              <a:buChar char="•"/>
            </a:pPr>
            <a:endParaRPr lang="en-US" sz="1800" b="1"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DQN</a:t>
            </a:r>
            <a:r>
              <a:rPr lang="en-US" sz="1800" dirty="0">
                <a:latin typeface="Calibri" panose="020F0502020204030204" pitchFamily="34" charset="0"/>
                <a:cs typeface="Calibri" panose="020F0502020204030204" pitchFamily="34" charset="0"/>
              </a:rPr>
              <a:t>:</a:t>
            </a:r>
          </a:p>
          <a:p>
            <a:pPr marL="590550"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Observation: 19‑dim (</a:t>
            </a:r>
            <a:r>
              <a:rPr lang="en-US" sz="1800" dirty="0" err="1">
                <a:latin typeface="Calibri" panose="020F0502020204030204" pitchFamily="34" charset="0"/>
                <a:cs typeface="Calibri" panose="020F0502020204030204" pitchFamily="34" charset="0"/>
              </a:rPr>
              <a:t>TaxiFeatureWrapper</a:t>
            </a:r>
            <a:r>
              <a:rPr lang="en-US" sz="1800" dirty="0">
                <a:latin typeface="Calibri" panose="020F0502020204030204" pitchFamily="34" charset="0"/>
                <a:cs typeface="Calibri" panose="020F0502020204030204" pitchFamily="34" charset="0"/>
              </a:rPr>
              <a:t>), Actions: 6</a:t>
            </a:r>
          </a:p>
          <a:p>
            <a:pPr marL="590550"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Architecture: MLP 256×256 -&gt; Q‑values for 6 actions</a:t>
            </a:r>
          </a:p>
          <a:p>
            <a:pPr marL="590550"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Online network params: 72,454</a:t>
            </a:r>
          </a:p>
        </p:txBody>
      </p:sp>
    </p:spTree>
    <p:extLst>
      <p:ext uri="{BB962C8B-B14F-4D97-AF65-F5344CB8AC3E}">
        <p14:creationId xmlns:p14="http://schemas.microsoft.com/office/powerpoint/2010/main" val="576000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253AFFAB-CBDB-8CC7-B800-B9E7FE52E4E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7F060E44-A9D6-CF21-C8D2-50E3CCEED47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2A02EEB-D428-66AF-F3D1-0D4FB6FA3AEE}"/>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A49B4E4-CBE6-D274-6617-9DF507A5F3D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20B9359-08F8-1CBB-443F-FECE3199176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C9807A49-57F2-E15E-7D63-84EED91D1B0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AD74816-23AF-C8C9-77EB-15294C1BF8DE}"/>
              </a:ext>
            </a:extLst>
          </p:cNvPr>
          <p:cNvSpPr txBox="1"/>
          <p:nvPr/>
        </p:nvSpPr>
        <p:spPr>
          <a:xfrm>
            <a:off x="576527" y="6042029"/>
            <a:ext cx="503473"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26</a:t>
            </a:r>
            <a:endParaRPr dirty="0"/>
          </a:p>
        </p:txBody>
      </p:sp>
      <p:cxnSp>
        <p:nvCxnSpPr>
          <p:cNvPr id="192" name="Google Shape;192;p3">
            <a:extLst>
              <a:ext uri="{FF2B5EF4-FFF2-40B4-BE49-F238E27FC236}">
                <a16:creationId xmlns:a16="http://schemas.microsoft.com/office/drawing/2014/main" id="{67701D07-94AC-B445-66E0-4F50D72C50F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C4DCE686-5C1C-BD06-46BE-40710113028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setup</a:t>
            </a:r>
            <a:endParaRPr dirty="0"/>
          </a:p>
        </p:txBody>
      </p:sp>
      <p:sp>
        <p:nvSpPr>
          <p:cNvPr id="3" name="Google Shape;210;p4">
            <a:extLst>
              <a:ext uri="{FF2B5EF4-FFF2-40B4-BE49-F238E27FC236}">
                <a16:creationId xmlns:a16="http://schemas.microsoft.com/office/drawing/2014/main" id="{C8EDEDA5-CA78-1F30-70DB-758B0DFA6F86}"/>
              </a:ext>
            </a:extLst>
          </p:cNvPr>
          <p:cNvSpPr txBox="1"/>
          <p:nvPr/>
        </p:nvSpPr>
        <p:spPr>
          <a:xfrm>
            <a:off x="1583474" y="1289767"/>
            <a:ext cx="6784670" cy="3831778"/>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We trained two different RL families on the same Taxi‑v3 environment to compare learning dynamics under identical rules.</a:t>
            </a:r>
          </a:p>
          <a:p>
            <a:pPr marL="590550"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DQN</a:t>
            </a:r>
            <a:r>
              <a:rPr lang="en-US" sz="1800" dirty="0">
                <a:latin typeface="Calibri" panose="020F0502020204030204" pitchFamily="34" charset="0"/>
                <a:cs typeface="Calibri" panose="020F0502020204030204" pitchFamily="34" charset="0"/>
              </a:rPr>
              <a:t>: value‑based method with replay buffer and target network for stable Q‑learning.</a:t>
            </a:r>
          </a:p>
          <a:p>
            <a:pPr marL="590550"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PPO</a:t>
            </a:r>
            <a:r>
              <a:rPr lang="en-US" sz="1800" dirty="0">
                <a:latin typeface="Calibri" panose="020F0502020204030204" pitchFamily="34" charset="0"/>
                <a:cs typeface="Calibri" panose="020F0502020204030204" pitchFamily="34" charset="0"/>
              </a:rPr>
              <a:t>: policy‑based actor‑critic with clipped objective; uses action masking to avoid invalid actions.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Reward shaping is applied only during training; evaluation always uses the default Taxi reward.</a:t>
            </a:r>
          </a:p>
        </p:txBody>
      </p:sp>
    </p:spTree>
    <p:extLst>
      <p:ext uri="{BB962C8B-B14F-4D97-AF65-F5344CB8AC3E}">
        <p14:creationId xmlns:p14="http://schemas.microsoft.com/office/powerpoint/2010/main" val="637213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DC883EC-1699-F847-5246-1A2E68A2185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A40FECE1-3CE5-0BBC-47EA-7F6CEAE61443}"/>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40599D7-F3D1-6AE4-0742-7D43407ABA3D}"/>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A850FB6-8912-BFD3-701E-BD09BAA545E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8C176A3-42DC-CEF0-5278-2C21636530B7}"/>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77D47AFD-DB4D-A687-6882-B97AB78B71CF}"/>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93582D27-CB35-09B3-D284-77FBD6C43853}"/>
              </a:ext>
            </a:extLst>
          </p:cNvPr>
          <p:cNvSpPr txBox="1"/>
          <p:nvPr/>
        </p:nvSpPr>
        <p:spPr>
          <a:xfrm>
            <a:off x="576527" y="6042029"/>
            <a:ext cx="503469"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27</a:t>
            </a:r>
            <a:endParaRPr dirty="0"/>
          </a:p>
        </p:txBody>
      </p:sp>
      <p:cxnSp>
        <p:nvCxnSpPr>
          <p:cNvPr id="192" name="Google Shape;192;p3">
            <a:extLst>
              <a:ext uri="{FF2B5EF4-FFF2-40B4-BE49-F238E27FC236}">
                <a16:creationId xmlns:a16="http://schemas.microsoft.com/office/drawing/2014/main" id="{B6294452-6323-6E6C-E3BE-E5AF5C49B75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DF6938DB-1B4B-963D-68C9-08301F4E3E4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a:t>
            </a:r>
            <a:r>
              <a:rPr lang="pl-PL" sz="2400" b="1" dirty="0" err="1">
                <a:solidFill>
                  <a:schemeClr val="dk1"/>
                </a:solidFill>
                <a:latin typeface="Arial"/>
                <a:ea typeface="Arial"/>
                <a:cs typeface="Arial"/>
                <a:sym typeface="Arial"/>
              </a:rPr>
              <a:t>budget</a:t>
            </a:r>
            <a:r>
              <a:rPr lang="pl-PL" sz="2400" b="1" dirty="0">
                <a:solidFill>
                  <a:schemeClr val="dk1"/>
                </a:solidFill>
                <a:latin typeface="Arial"/>
                <a:ea typeface="Arial"/>
                <a:cs typeface="Arial"/>
                <a:sym typeface="Arial"/>
              </a:rPr>
              <a:t> &amp; </a:t>
            </a:r>
            <a:r>
              <a:rPr lang="pl-PL" sz="2400" b="1" dirty="0" err="1">
                <a:solidFill>
                  <a:schemeClr val="dk1"/>
                </a:solidFill>
                <a:latin typeface="Arial"/>
                <a:ea typeface="Arial"/>
                <a:cs typeface="Arial"/>
                <a:sym typeface="Arial"/>
              </a:rPr>
              <a:t>schedule</a:t>
            </a:r>
            <a:endParaRPr dirty="0"/>
          </a:p>
        </p:txBody>
      </p:sp>
      <p:sp>
        <p:nvSpPr>
          <p:cNvPr id="6" name="Google Shape;210;p4">
            <a:extLst>
              <a:ext uri="{FF2B5EF4-FFF2-40B4-BE49-F238E27FC236}">
                <a16:creationId xmlns:a16="http://schemas.microsoft.com/office/drawing/2014/main" id="{0658FD77-5284-500B-CB28-67ABD31251DE}"/>
              </a:ext>
            </a:extLst>
          </p:cNvPr>
          <p:cNvSpPr txBox="1"/>
          <p:nvPr/>
        </p:nvSpPr>
        <p:spPr>
          <a:xfrm>
            <a:off x="1583474" y="1289767"/>
            <a:ext cx="6784670" cy="4247276"/>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Environment steps (per reward function):</a:t>
            </a:r>
          </a:p>
          <a:p>
            <a:pPr marL="590550"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PPO</a:t>
            </a:r>
            <a:r>
              <a:rPr lang="en-US" sz="1800" dirty="0">
                <a:latin typeface="Calibri" panose="020F0502020204030204" pitchFamily="34" charset="0"/>
                <a:cs typeface="Calibri" panose="020F0502020204030204" pitchFamily="34" charset="0"/>
              </a:rPr>
              <a:t>: 200,000</a:t>
            </a:r>
          </a:p>
          <a:p>
            <a:pPr marL="590550" indent="-285750">
              <a:lnSpc>
                <a:spcPct val="150000"/>
              </a:lnSpc>
              <a:buFont typeface="Wingdings" pitchFamily="2" charset="2"/>
              <a:buChar char="§"/>
            </a:pPr>
            <a:r>
              <a:rPr lang="en-US" sz="1800" b="1" dirty="0">
                <a:latin typeface="Calibri" panose="020F0502020204030204" pitchFamily="34" charset="0"/>
                <a:cs typeface="Calibri" panose="020F0502020204030204" pitchFamily="34" charset="0"/>
              </a:rPr>
              <a:t>DQN</a:t>
            </a:r>
            <a:r>
              <a:rPr lang="en-US" sz="1800" dirty="0">
                <a:latin typeface="Calibri" panose="020F0502020204030204" pitchFamily="34" charset="0"/>
                <a:cs typeface="Calibri" panose="020F0502020204030204" pitchFamily="34" charset="0"/>
              </a:rPr>
              <a:t>: 250,000</a:t>
            </a:r>
          </a:p>
          <a:p>
            <a:pPr marL="304800">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Evaluation: 200 episodes with deterministic policy; metrics include mean reward, success rate, and mean episode length.</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Per‑reward tuning keeps comparisons fair, since each reward function has its own best hyperparameters.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8187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EB708F8-5566-6456-4A19-041C62B45668}"/>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DC3EA82B-88F0-3B3C-55AC-0D71A37C89B2}"/>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02B9AB8-09F6-BE61-1664-AE81AF6E29A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8C2646CC-DAB1-79B5-EEB5-28D5E17D54F1}"/>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FFC8DEF4-49B3-C5F3-B59E-7071D709E7A2}"/>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6A71C37-76D8-AA8D-5420-B4CED772E9F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9CF8215-E813-0EC3-8563-DF014719628A}"/>
              </a:ext>
            </a:extLst>
          </p:cNvPr>
          <p:cNvSpPr txBox="1"/>
          <p:nvPr/>
        </p:nvSpPr>
        <p:spPr>
          <a:xfrm>
            <a:off x="576527" y="6042029"/>
            <a:ext cx="39299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28</a:t>
            </a:r>
            <a:endParaRPr dirty="0"/>
          </a:p>
        </p:txBody>
      </p:sp>
      <p:cxnSp>
        <p:nvCxnSpPr>
          <p:cNvPr id="192" name="Google Shape;192;p3">
            <a:extLst>
              <a:ext uri="{FF2B5EF4-FFF2-40B4-BE49-F238E27FC236}">
                <a16:creationId xmlns:a16="http://schemas.microsoft.com/office/drawing/2014/main" id="{ACC21D70-E1AB-546B-F4E9-53E7450C9BBB}"/>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C0C20F32-F240-6E89-0142-EBCE6953A8E0}"/>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Hyper</a:t>
            </a:r>
            <a:r>
              <a:rPr lang="pl-PL" sz="2400" b="1" dirty="0">
                <a:solidFill>
                  <a:schemeClr val="dk1"/>
                </a:solidFill>
              </a:rPr>
              <a:t>parameter </a:t>
            </a:r>
            <a:r>
              <a:rPr lang="pl-PL" sz="2400" b="1" dirty="0" err="1">
                <a:solidFill>
                  <a:schemeClr val="dk1"/>
                </a:solidFill>
              </a:rPr>
              <a:t>tuning</a:t>
            </a:r>
            <a:r>
              <a:rPr lang="pl-PL" sz="2400" b="1" dirty="0">
                <a:solidFill>
                  <a:schemeClr val="dk1"/>
                </a:solidFill>
              </a:rPr>
              <a:t> - PPO</a:t>
            </a:r>
            <a:endParaRPr dirty="0"/>
          </a:p>
        </p:txBody>
      </p:sp>
      <p:sp>
        <p:nvSpPr>
          <p:cNvPr id="6" name="Google Shape;210;p4">
            <a:extLst>
              <a:ext uri="{FF2B5EF4-FFF2-40B4-BE49-F238E27FC236}">
                <a16:creationId xmlns:a16="http://schemas.microsoft.com/office/drawing/2014/main" id="{BA085349-FE01-9804-7151-024911AB463B}"/>
              </a:ext>
            </a:extLst>
          </p:cNvPr>
          <p:cNvSpPr txBox="1"/>
          <p:nvPr/>
        </p:nvSpPr>
        <p:spPr>
          <a:xfrm>
            <a:off x="1583474" y="1289767"/>
            <a:ext cx="7141276" cy="281611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Random search per reward function with 200k training timesteps, 200 evaluation episodes and 20 random configs – 192 minutes.</a:t>
            </a:r>
          </a:p>
          <a:p>
            <a:pPr marL="304800">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Default</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=3e‑4, </a:t>
            </a:r>
            <a:r>
              <a:rPr lang="en-US" sz="1600" dirty="0" err="1">
                <a:latin typeface="Calibri" panose="020F0502020204030204" pitchFamily="34" charset="0"/>
                <a:cs typeface="Calibri" panose="020F0502020204030204" pitchFamily="34" charset="0"/>
              </a:rPr>
              <a:t>n_steps</a:t>
            </a:r>
            <a:r>
              <a:rPr lang="en-US" sz="1600" dirty="0">
                <a:latin typeface="Calibri" panose="020F0502020204030204" pitchFamily="34" charset="0"/>
                <a:cs typeface="Calibri" panose="020F0502020204030204" pitchFamily="34" charset="0"/>
              </a:rPr>
              <a:t>=2048, batch=128, clip=0.1, </a:t>
            </a:r>
            <a:r>
              <a:rPr lang="en-US" sz="1600" dirty="0" err="1">
                <a:latin typeface="Calibri" panose="020F0502020204030204" pitchFamily="34" charset="0"/>
                <a:cs typeface="Calibri" panose="020F0502020204030204" pitchFamily="34" charset="0"/>
              </a:rPr>
              <a:t>ent</a:t>
            </a:r>
            <a:r>
              <a:rPr lang="en-US" sz="1600" dirty="0">
                <a:latin typeface="Calibri" panose="020F0502020204030204" pitchFamily="34" charset="0"/>
                <a:cs typeface="Calibri" panose="020F0502020204030204" pitchFamily="34" charset="0"/>
              </a:rPr>
              <a:t>=0.0</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Distance‑based</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=1e‑4, </a:t>
            </a:r>
            <a:r>
              <a:rPr lang="en-US" sz="1600" dirty="0" err="1">
                <a:latin typeface="Calibri" panose="020F0502020204030204" pitchFamily="34" charset="0"/>
                <a:cs typeface="Calibri" panose="020F0502020204030204" pitchFamily="34" charset="0"/>
              </a:rPr>
              <a:t>n_steps</a:t>
            </a:r>
            <a:r>
              <a:rPr lang="en-US" sz="1600" dirty="0">
                <a:latin typeface="Calibri" panose="020F0502020204030204" pitchFamily="34" charset="0"/>
                <a:cs typeface="Calibri" panose="020F0502020204030204" pitchFamily="34" charset="0"/>
              </a:rPr>
              <a:t>=2048, batch=32, clip=0.1, </a:t>
            </a:r>
            <a:r>
              <a:rPr lang="en-US" sz="1600" dirty="0" err="1">
                <a:latin typeface="Calibri" panose="020F0502020204030204" pitchFamily="34" charset="0"/>
                <a:cs typeface="Calibri" panose="020F0502020204030204" pitchFamily="34" charset="0"/>
              </a:rPr>
              <a:t>ent</a:t>
            </a:r>
            <a:r>
              <a:rPr lang="en-US" sz="1600" dirty="0">
                <a:latin typeface="Calibri" panose="020F0502020204030204" pitchFamily="34" charset="0"/>
                <a:cs typeface="Calibri" panose="020F0502020204030204" pitchFamily="34" charset="0"/>
              </a:rPr>
              <a:t>=0.05</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Modified penalty</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=3e‑4, </a:t>
            </a:r>
            <a:r>
              <a:rPr lang="en-US" sz="1600" dirty="0" err="1">
                <a:latin typeface="Calibri" panose="020F0502020204030204" pitchFamily="34" charset="0"/>
                <a:cs typeface="Calibri" panose="020F0502020204030204" pitchFamily="34" charset="0"/>
              </a:rPr>
              <a:t>n_steps</a:t>
            </a:r>
            <a:r>
              <a:rPr lang="en-US" sz="1600" dirty="0">
                <a:latin typeface="Calibri" panose="020F0502020204030204" pitchFamily="34" charset="0"/>
                <a:cs typeface="Calibri" panose="020F0502020204030204" pitchFamily="34" charset="0"/>
              </a:rPr>
              <a:t>=2048, batch=128, clip=0.2, </a:t>
            </a:r>
            <a:r>
              <a:rPr lang="en-US" sz="1600" dirty="0" err="1">
                <a:latin typeface="Calibri" panose="020F0502020204030204" pitchFamily="34" charset="0"/>
                <a:cs typeface="Calibri" panose="020F0502020204030204" pitchFamily="34" charset="0"/>
              </a:rPr>
              <a:t>ent</a:t>
            </a:r>
            <a:r>
              <a:rPr lang="en-US" sz="1600" dirty="0">
                <a:latin typeface="Calibri" panose="020F0502020204030204" pitchFamily="34" charset="0"/>
                <a:cs typeface="Calibri" panose="020F0502020204030204" pitchFamily="34" charset="0"/>
              </a:rPr>
              <a:t>=0.01</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Enhanced</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=1e‑3, </a:t>
            </a:r>
            <a:r>
              <a:rPr lang="en-US" sz="1600" dirty="0" err="1">
                <a:latin typeface="Calibri" panose="020F0502020204030204" pitchFamily="34" charset="0"/>
                <a:cs typeface="Calibri" panose="020F0502020204030204" pitchFamily="34" charset="0"/>
              </a:rPr>
              <a:t>n_steps</a:t>
            </a:r>
            <a:r>
              <a:rPr lang="en-US" sz="1600" dirty="0">
                <a:latin typeface="Calibri" panose="020F0502020204030204" pitchFamily="34" charset="0"/>
                <a:cs typeface="Calibri" panose="020F0502020204030204" pitchFamily="34" charset="0"/>
              </a:rPr>
              <a:t>=1024, batch=64, clip=0.1, </a:t>
            </a:r>
            <a:r>
              <a:rPr lang="en-US" sz="1600" dirty="0" err="1">
                <a:latin typeface="Calibri" panose="020F0502020204030204" pitchFamily="34" charset="0"/>
                <a:cs typeface="Calibri" panose="020F0502020204030204" pitchFamily="34" charset="0"/>
              </a:rPr>
              <a:t>ent</a:t>
            </a:r>
            <a:r>
              <a:rPr lang="en-US" sz="1600" dirty="0">
                <a:latin typeface="Calibri" panose="020F0502020204030204" pitchFamily="34" charset="0"/>
                <a:cs typeface="Calibri" panose="020F0502020204030204" pitchFamily="34" charset="0"/>
              </a:rPr>
              <a:t>=0.05</a:t>
            </a:r>
          </a:p>
        </p:txBody>
      </p:sp>
    </p:spTree>
    <p:extLst>
      <p:ext uri="{BB962C8B-B14F-4D97-AF65-F5344CB8AC3E}">
        <p14:creationId xmlns:p14="http://schemas.microsoft.com/office/powerpoint/2010/main" val="605122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5F95A75-FAFE-0A0C-57DD-5670E05C4FB4}"/>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2D27BBC2-9550-83FF-4DB6-8EA60C9DCD1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F42712AF-1269-C057-3F5F-E5596B98062A}"/>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58ED641D-54FC-53A7-B417-280846AE15A0}"/>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860DD7FD-F485-6361-B33B-D942B9379DE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058B1394-96A4-A861-11E1-CBA4F3F59B4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361727C-6EA9-361F-2A69-D706844960C0}"/>
              </a:ext>
            </a:extLst>
          </p:cNvPr>
          <p:cNvSpPr txBox="1"/>
          <p:nvPr/>
        </p:nvSpPr>
        <p:spPr>
          <a:xfrm>
            <a:off x="576527" y="6042029"/>
            <a:ext cx="392989"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29</a:t>
            </a:r>
            <a:endParaRPr dirty="0"/>
          </a:p>
        </p:txBody>
      </p:sp>
      <p:cxnSp>
        <p:nvCxnSpPr>
          <p:cNvPr id="192" name="Google Shape;192;p3">
            <a:extLst>
              <a:ext uri="{FF2B5EF4-FFF2-40B4-BE49-F238E27FC236}">
                <a16:creationId xmlns:a16="http://schemas.microsoft.com/office/drawing/2014/main" id="{76B180F8-8F10-8F85-9A22-C0B453816272}"/>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AC738C32-F8B2-6F25-EB66-5DEADB554851}"/>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Hyper</a:t>
            </a:r>
            <a:r>
              <a:rPr lang="pl-PL" sz="2400" b="1" dirty="0">
                <a:solidFill>
                  <a:schemeClr val="dk1"/>
                </a:solidFill>
              </a:rPr>
              <a:t>parameter </a:t>
            </a:r>
            <a:r>
              <a:rPr lang="pl-PL" sz="2400" b="1" dirty="0" err="1">
                <a:solidFill>
                  <a:schemeClr val="dk1"/>
                </a:solidFill>
              </a:rPr>
              <a:t>tuning</a:t>
            </a:r>
            <a:r>
              <a:rPr lang="pl-PL" sz="2400" b="1" dirty="0">
                <a:solidFill>
                  <a:schemeClr val="dk1"/>
                </a:solidFill>
              </a:rPr>
              <a:t> - DQN</a:t>
            </a:r>
            <a:endParaRPr dirty="0"/>
          </a:p>
        </p:txBody>
      </p:sp>
      <p:sp>
        <p:nvSpPr>
          <p:cNvPr id="6" name="Google Shape;210;p4">
            <a:extLst>
              <a:ext uri="{FF2B5EF4-FFF2-40B4-BE49-F238E27FC236}">
                <a16:creationId xmlns:a16="http://schemas.microsoft.com/office/drawing/2014/main" id="{15DF22C0-706B-1197-8BAE-5D62F6D2A27F}"/>
              </a:ext>
            </a:extLst>
          </p:cNvPr>
          <p:cNvSpPr txBox="1"/>
          <p:nvPr/>
        </p:nvSpPr>
        <p:spPr>
          <a:xfrm>
            <a:off x="1583473" y="1289767"/>
            <a:ext cx="7199983" cy="514752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Random search per reward function with 250k training timesteps, 100 evaluation episodes and 5 random configs – 125 minutes. </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Default</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=5e‑5, batch=32, buffer=200k, gamma=0.99, target=500, </a:t>
            </a:r>
            <a:r>
              <a:rPr lang="en-US" sz="1600" dirty="0" err="1">
                <a:latin typeface="Calibri" panose="020F0502020204030204" pitchFamily="34" charset="0"/>
                <a:cs typeface="Calibri" panose="020F0502020204030204" pitchFamily="34" charset="0"/>
              </a:rPr>
              <a:t>exp_frac</a:t>
            </a:r>
            <a:r>
              <a:rPr lang="en-US" sz="1600" dirty="0">
                <a:latin typeface="Calibri" panose="020F0502020204030204" pitchFamily="34" charset="0"/>
                <a:cs typeface="Calibri" panose="020F0502020204030204" pitchFamily="34" charset="0"/>
              </a:rPr>
              <a:t>=0.8, </a:t>
            </a:r>
            <a:r>
              <a:rPr lang="en-US" sz="1600" dirty="0" err="1">
                <a:latin typeface="Calibri" panose="020F0502020204030204" pitchFamily="34" charset="0"/>
                <a:cs typeface="Calibri" panose="020F0502020204030204" pitchFamily="34" charset="0"/>
              </a:rPr>
              <a:t>exp_final</a:t>
            </a:r>
            <a:r>
              <a:rPr lang="en-US" sz="1600" dirty="0">
                <a:latin typeface="Calibri" panose="020F0502020204030204" pitchFamily="34" charset="0"/>
                <a:cs typeface="Calibri" panose="020F0502020204030204" pitchFamily="34" charset="0"/>
              </a:rPr>
              <a:t>=0.1, starts=10k, </a:t>
            </a:r>
            <a:r>
              <a:rPr lang="en-US" sz="1600" dirty="0" err="1">
                <a:latin typeface="Calibri" panose="020F0502020204030204" pitchFamily="34" charset="0"/>
                <a:cs typeface="Calibri" panose="020F0502020204030204" pitchFamily="34" charset="0"/>
              </a:rPr>
              <a:t>train_freq</a:t>
            </a:r>
            <a:r>
              <a:rPr lang="en-US" sz="1600" dirty="0">
                <a:latin typeface="Calibri" panose="020F0502020204030204" pitchFamily="34" charset="0"/>
                <a:cs typeface="Calibri" panose="020F0502020204030204" pitchFamily="34" charset="0"/>
              </a:rPr>
              <a:t>=1, </a:t>
            </a:r>
            <a:r>
              <a:rPr lang="en-US" sz="1600" dirty="0" err="1">
                <a:latin typeface="Calibri" panose="020F0502020204030204" pitchFamily="34" charset="0"/>
                <a:cs typeface="Calibri" panose="020F0502020204030204" pitchFamily="34" charset="0"/>
              </a:rPr>
              <a:t>grad_steps</a:t>
            </a:r>
            <a:r>
              <a:rPr lang="en-US" sz="1600" dirty="0">
                <a:latin typeface="Calibri" panose="020F0502020204030204" pitchFamily="34" charset="0"/>
                <a:cs typeface="Calibri" panose="020F0502020204030204" pitchFamily="34" charset="0"/>
              </a:rPr>
              <a:t>=4</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Distance‑based</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=5e‑4, batch=32, buffer=200k, gamma=0.99, target=1000, </a:t>
            </a:r>
            <a:r>
              <a:rPr lang="en-US" sz="1600" dirty="0" err="1">
                <a:latin typeface="Calibri" panose="020F0502020204030204" pitchFamily="34" charset="0"/>
                <a:cs typeface="Calibri" panose="020F0502020204030204" pitchFamily="34" charset="0"/>
              </a:rPr>
              <a:t>exp_frac</a:t>
            </a:r>
            <a:r>
              <a:rPr lang="en-US" sz="1600" dirty="0">
                <a:latin typeface="Calibri" panose="020F0502020204030204" pitchFamily="34" charset="0"/>
                <a:cs typeface="Calibri" panose="020F0502020204030204" pitchFamily="34" charset="0"/>
              </a:rPr>
              <a:t>=0.8, </a:t>
            </a:r>
            <a:r>
              <a:rPr lang="en-US" sz="1600" dirty="0" err="1">
                <a:latin typeface="Calibri" panose="020F0502020204030204" pitchFamily="34" charset="0"/>
                <a:cs typeface="Calibri" panose="020F0502020204030204" pitchFamily="34" charset="0"/>
              </a:rPr>
              <a:t>exp_final</a:t>
            </a:r>
            <a:r>
              <a:rPr lang="en-US" sz="1600" dirty="0">
                <a:latin typeface="Calibri" panose="020F0502020204030204" pitchFamily="34" charset="0"/>
                <a:cs typeface="Calibri" panose="020F0502020204030204" pitchFamily="34" charset="0"/>
              </a:rPr>
              <a:t>=0.2, starts=20k, </a:t>
            </a:r>
            <a:r>
              <a:rPr lang="en-US" sz="1600" dirty="0" err="1">
                <a:latin typeface="Calibri" panose="020F0502020204030204" pitchFamily="34" charset="0"/>
                <a:cs typeface="Calibri" panose="020F0502020204030204" pitchFamily="34" charset="0"/>
              </a:rPr>
              <a:t>train_freq</a:t>
            </a:r>
            <a:r>
              <a:rPr lang="en-US" sz="1600" dirty="0">
                <a:latin typeface="Calibri" panose="020F0502020204030204" pitchFamily="34" charset="0"/>
                <a:cs typeface="Calibri" panose="020F0502020204030204" pitchFamily="34" charset="0"/>
              </a:rPr>
              <a:t>=4, </a:t>
            </a:r>
            <a:r>
              <a:rPr lang="en-US" sz="1600" dirty="0" err="1">
                <a:latin typeface="Calibri" panose="020F0502020204030204" pitchFamily="34" charset="0"/>
                <a:cs typeface="Calibri" panose="020F0502020204030204" pitchFamily="34" charset="0"/>
              </a:rPr>
              <a:t>grad_steps</a:t>
            </a:r>
            <a:r>
              <a:rPr lang="en-US" sz="1600" dirty="0">
                <a:latin typeface="Calibri" panose="020F0502020204030204" pitchFamily="34" charset="0"/>
                <a:cs typeface="Calibri" panose="020F0502020204030204" pitchFamily="34" charset="0"/>
              </a:rPr>
              <a:t>=1</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Modified penalty</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=2e‑4, batch=128, buffer=50k, gamma=0.95, target=2000, </a:t>
            </a:r>
            <a:r>
              <a:rPr lang="en-US" sz="1600" dirty="0" err="1">
                <a:latin typeface="Calibri" panose="020F0502020204030204" pitchFamily="34" charset="0"/>
                <a:cs typeface="Calibri" panose="020F0502020204030204" pitchFamily="34" charset="0"/>
              </a:rPr>
              <a:t>exp_frac</a:t>
            </a:r>
            <a:r>
              <a:rPr lang="en-US" sz="1600" dirty="0">
                <a:latin typeface="Calibri" panose="020F0502020204030204" pitchFamily="34" charset="0"/>
                <a:cs typeface="Calibri" panose="020F0502020204030204" pitchFamily="34" charset="0"/>
              </a:rPr>
              <a:t>=0.8, </a:t>
            </a:r>
            <a:r>
              <a:rPr lang="en-US" sz="1600" dirty="0" err="1">
                <a:latin typeface="Calibri" panose="020F0502020204030204" pitchFamily="34" charset="0"/>
                <a:cs typeface="Calibri" panose="020F0502020204030204" pitchFamily="34" charset="0"/>
              </a:rPr>
              <a:t>exp_final</a:t>
            </a:r>
            <a:r>
              <a:rPr lang="en-US" sz="1600" dirty="0">
                <a:latin typeface="Calibri" panose="020F0502020204030204" pitchFamily="34" charset="0"/>
                <a:cs typeface="Calibri" panose="020F0502020204030204" pitchFamily="34" charset="0"/>
              </a:rPr>
              <a:t>=0.1, starts=10k, </a:t>
            </a:r>
            <a:r>
              <a:rPr lang="en-US" sz="1600" dirty="0" err="1">
                <a:latin typeface="Calibri" panose="020F0502020204030204" pitchFamily="34" charset="0"/>
                <a:cs typeface="Calibri" panose="020F0502020204030204" pitchFamily="34" charset="0"/>
              </a:rPr>
              <a:t>train_freq</a:t>
            </a:r>
            <a:r>
              <a:rPr lang="en-US" sz="1600" dirty="0">
                <a:latin typeface="Calibri" panose="020F0502020204030204" pitchFamily="34" charset="0"/>
                <a:cs typeface="Calibri" panose="020F0502020204030204" pitchFamily="34" charset="0"/>
              </a:rPr>
              <a:t>=1, </a:t>
            </a:r>
            <a:r>
              <a:rPr lang="en-US" sz="1600" dirty="0" err="1">
                <a:latin typeface="Calibri" panose="020F0502020204030204" pitchFamily="34" charset="0"/>
                <a:cs typeface="Calibri" panose="020F0502020204030204" pitchFamily="34" charset="0"/>
              </a:rPr>
              <a:t>grad_steps</a:t>
            </a:r>
            <a:r>
              <a:rPr lang="en-US" sz="1600" dirty="0">
                <a:latin typeface="Calibri" panose="020F0502020204030204" pitchFamily="34" charset="0"/>
                <a:cs typeface="Calibri" panose="020F0502020204030204" pitchFamily="34" charset="0"/>
              </a:rPr>
              <a:t>=1</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Enhanced</a:t>
            </a:r>
            <a:r>
              <a:rPr lang="en-US" sz="1600" dirty="0">
                <a:latin typeface="Calibri" panose="020F0502020204030204" pitchFamily="34" charset="0"/>
                <a:cs typeface="Calibri" panose="020F0502020204030204" pitchFamily="34" charset="0"/>
              </a:rPr>
              <a:t>: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=2e‑4, batch=128, buffer=100k, gamma=0.95, target=1000, </a:t>
            </a:r>
            <a:r>
              <a:rPr lang="en-US" sz="1600" dirty="0" err="1">
                <a:latin typeface="Calibri" panose="020F0502020204030204" pitchFamily="34" charset="0"/>
                <a:cs typeface="Calibri" panose="020F0502020204030204" pitchFamily="34" charset="0"/>
              </a:rPr>
              <a:t>exp_frac</a:t>
            </a:r>
            <a:r>
              <a:rPr lang="en-US" sz="1600" dirty="0">
                <a:latin typeface="Calibri" panose="020F0502020204030204" pitchFamily="34" charset="0"/>
                <a:cs typeface="Calibri" panose="020F0502020204030204" pitchFamily="34" charset="0"/>
              </a:rPr>
              <a:t>=0.9, </a:t>
            </a:r>
            <a:r>
              <a:rPr lang="en-US" sz="1600" dirty="0" err="1">
                <a:latin typeface="Calibri" panose="020F0502020204030204" pitchFamily="34" charset="0"/>
                <a:cs typeface="Calibri" panose="020F0502020204030204" pitchFamily="34" charset="0"/>
              </a:rPr>
              <a:t>exp_final</a:t>
            </a:r>
            <a:r>
              <a:rPr lang="en-US" sz="1600" dirty="0">
                <a:latin typeface="Calibri" panose="020F0502020204030204" pitchFamily="34" charset="0"/>
                <a:cs typeface="Calibri" panose="020F0502020204030204" pitchFamily="34" charset="0"/>
              </a:rPr>
              <a:t>=0.1, starts=20k, </a:t>
            </a:r>
            <a:r>
              <a:rPr lang="en-US" sz="1600" dirty="0" err="1">
                <a:latin typeface="Calibri" panose="020F0502020204030204" pitchFamily="34" charset="0"/>
                <a:cs typeface="Calibri" panose="020F0502020204030204" pitchFamily="34" charset="0"/>
              </a:rPr>
              <a:t>train_freq</a:t>
            </a:r>
            <a:r>
              <a:rPr lang="en-US" sz="1600" dirty="0">
                <a:latin typeface="Calibri" panose="020F0502020204030204" pitchFamily="34" charset="0"/>
                <a:cs typeface="Calibri" panose="020F0502020204030204" pitchFamily="34" charset="0"/>
              </a:rPr>
              <a:t>=4, </a:t>
            </a:r>
            <a:r>
              <a:rPr lang="en-US" sz="1600" dirty="0" err="1">
                <a:latin typeface="Calibri" panose="020F0502020204030204" pitchFamily="34" charset="0"/>
                <a:cs typeface="Calibri" panose="020F0502020204030204" pitchFamily="34" charset="0"/>
              </a:rPr>
              <a:t>grad_steps</a:t>
            </a:r>
            <a:r>
              <a:rPr lang="en-US" sz="1600" dirty="0">
                <a:latin typeface="Calibri" panose="020F0502020204030204" pitchFamily="34" charset="0"/>
                <a:cs typeface="Calibri" panose="020F0502020204030204" pitchFamily="34" charset="0"/>
              </a:rPr>
              <a:t>=4</a:t>
            </a:r>
          </a:p>
          <a:p>
            <a:pPr>
              <a:lnSpc>
                <a:spcPct val="150000"/>
              </a:lnSpc>
            </a:pPr>
            <a:endParaRPr lang="en-US" sz="500" dirty="0">
              <a:latin typeface="Calibri" panose="020F0502020204030204" pitchFamily="34" charset="0"/>
              <a:cs typeface="Calibri" panose="020F0502020204030204" pitchFamily="34" charset="0"/>
            </a:endParaRPr>
          </a:p>
          <a:p>
            <a:pPr>
              <a:lnSpc>
                <a:spcPct val="150000"/>
              </a:lnSpc>
            </a:pPr>
            <a:r>
              <a:rPr lang="en-US" i="1" dirty="0">
                <a:latin typeface="Calibri" panose="020F0502020204030204" pitchFamily="34" charset="0"/>
                <a:cs typeface="Calibri" panose="020F0502020204030204" pitchFamily="34" charset="0"/>
              </a:rPr>
              <a:t>We tried running it on 500k, 200 and 20 but after </a:t>
            </a:r>
            <a:r>
              <a:rPr lang="en-US" i="1" dirty="0" err="1">
                <a:latin typeface="Calibri" panose="020F0502020204030204" pitchFamily="34" charset="0"/>
                <a:cs typeface="Calibri" panose="020F0502020204030204" pitchFamily="34" charset="0"/>
              </a:rPr>
              <a:t>aprox</a:t>
            </a:r>
            <a:r>
              <a:rPr lang="en-US" i="1" dirty="0">
                <a:latin typeface="Calibri" panose="020F0502020204030204" pitchFamily="34" charset="0"/>
                <a:cs typeface="Calibri" panose="020F0502020204030204" pitchFamily="34" charset="0"/>
              </a:rPr>
              <a:t>. 11 hours we were 60% done.</a:t>
            </a:r>
          </a:p>
          <a:p>
            <a:pPr>
              <a:lnSpc>
                <a:spcPct val="150000"/>
              </a:lnSpc>
            </a:pP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7557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AC1A458-E528-A513-D277-94E9D1B1CA6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C6C2164-A800-1DB2-F77C-DA3429325DD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39FF3EB-1980-1449-369C-017CD7DDF553}"/>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518C5F4E-6DAD-B8AC-9AC1-DF49889F9C6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6205F6E-9974-53CA-8709-E3D421F666C5}"/>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48E8C79C-C332-CB89-3AFD-7C89805D7F1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EADFFF05-086B-D29B-E6D6-B761B4A38DF0}"/>
              </a:ext>
            </a:extLst>
          </p:cNvPr>
          <p:cNvSpPr txBox="1"/>
          <p:nvPr/>
        </p:nvSpPr>
        <p:spPr>
          <a:xfrm>
            <a:off x="576527" y="6042029"/>
            <a:ext cx="39299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30</a:t>
            </a:r>
            <a:endParaRPr dirty="0"/>
          </a:p>
        </p:txBody>
      </p:sp>
      <p:cxnSp>
        <p:nvCxnSpPr>
          <p:cNvPr id="192" name="Google Shape;192;p3">
            <a:extLst>
              <a:ext uri="{FF2B5EF4-FFF2-40B4-BE49-F238E27FC236}">
                <a16:creationId xmlns:a16="http://schemas.microsoft.com/office/drawing/2014/main" id="{9E39BA66-0C98-3A9C-49CF-DB061572CF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2B853D0-9E5F-6FEC-CC76-98892279E2B2}"/>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PPO learning </a:t>
            </a:r>
            <a:r>
              <a:rPr lang="pl-PL" sz="2400" b="1" dirty="0" err="1">
                <a:solidFill>
                  <a:schemeClr val="dk1"/>
                </a:solidFill>
              </a:rPr>
              <a:t>curve</a:t>
            </a:r>
            <a:endParaRPr dirty="0"/>
          </a:p>
        </p:txBody>
      </p:sp>
      <p:pic>
        <p:nvPicPr>
          <p:cNvPr id="2" name="Picture 1">
            <a:extLst>
              <a:ext uri="{FF2B5EF4-FFF2-40B4-BE49-F238E27FC236}">
                <a16:creationId xmlns:a16="http://schemas.microsoft.com/office/drawing/2014/main" id="{B3349D7A-BF61-830C-2F5C-99878DBEADF5}"/>
              </a:ext>
            </a:extLst>
          </p:cNvPr>
          <p:cNvPicPr>
            <a:picLocks noChangeAspect="1"/>
          </p:cNvPicPr>
          <p:nvPr/>
        </p:nvPicPr>
        <p:blipFill>
          <a:blip r:embed="rId4"/>
          <a:stretch>
            <a:fillRect/>
          </a:stretch>
        </p:blipFill>
        <p:spPr>
          <a:xfrm>
            <a:off x="1511564" y="2203084"/>
            <a:ext cx="7343819" cy="3645492"/>
          </a:xfrm>
          <a:prstGeom prst="rect">
            <a:avLst/>
          </a:prstGeom>
        </p:spPr>
      </p:pic>
      <p:sp>
        <p:nvSpPr>
          <p:cNvPr id="3" name="TextBox 2">
            <a:extLst>
              <a:ext uri="{FF2B5EF4-FFF2-40B4-BE49-F238E27FC236}">
                <a16:creationId xmlns:a16="http://schemas.microsoft.com/office/drawing/2014/main" id="{506480FA-CB2E-1458-9C70-3E7F5F65C9ED}"/>
              </a:ext>
            </a:extLst>
          </p:cNvPr>
          <p:cNvSpPr txBox="1"/>
          <p:nvPr/>
        </p:nvSpPr>
        <p:spPr>
          <a:xfrm>
            <a:off x="1524750" y="1389378"/>
            <a:ext cx="6971780" cy="584775"/>
          </a:xfrm>
          <a:prstGeom prst="rect">
            <a:avLst/>
          </a:prstGeom>
          <a:noFill/>
        </p:spPr>
        <p:txBody>
          <a:bodyPr wrap="none" rtlCol="0">
            <a:spAutoFit/>
          </a:bodyPr>
          <a:lstStyle/>
          <a:p>
            <a:r>
              <a:rPr lang="en-US" sz="1600" dirty="0">
                <a:latin typeface="Calibri" panose="020F0502020204030204" pitchFamily="34" charset="0"/>
                <a:cs typeface="Calibri" panose="020F0502020204030204" pitchFamily="34" charset="0"/>
              </a:rPr>
              <a:t>PPO converges quickly across all rewards. Enhanced achieves the highest plateau </a:t>
            </a:r>
          </a:p>
          <a:p>
            <a:r>
              <a:rPr lang="en-US" sz="1600" dirty="0">
                <a:latin typeface="Calibri" panose="020F0502020204030204" pitchFamily="34" charset="0"/>
                <a:cs typeface="Calibri" panose="020F0502020204030204" pitchFamily="34" charset="0"/>
              </a:rPr>
              <a:t>but shows occasional dips, while default is the most stable.</a:t>
            </a:r>
          </a:p>
        </p:txBody>
      </p:sp>
    </p:spTree>
    <p:extLst>
      <p:ext uri="{BB962C8B-B14F-4D97-AF65-F5344CB8AC3E}">
        <p14:creationId xmlns:p14="http://schemas.microsoft.com/office/powerpoint/2010/main" val="2732303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C917D12B-925D-5243-9516-5B7EA1F071A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80C73DE8-C9F8-C633-2E49-915DAD31E30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FD36C4E-2FC7-83CA-A7D3-6FE2A63E7FD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DB608787-1A03-C253-9462-D78D19EE5E5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ACD2004-89E2-FC39-795D-C4104065262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B9A9F94-8D8B-9847-449F-B9A7ED825EB3}"/>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D0DB55BD-C94F-4049-E3BA-CD2F08C5E8B9}"/>
              </a:ext>
            </a:extLst>
          </p:cNvPr>
          <p:cNvSpPr txBox="1"/>
          <p:nvPr/>
        </p:nvSpPr>
        <p:spPr>
          <a:xfrm>
            <a:off x="576527" y="6042029"/>
            <a:ext cx="39298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31</a:t>
            </a:r>
            <a:endParaRPr dirty="0"/>
          </a:p>
        </p:txBody>
      </p:sp>
      <p:cxnSp>
        <p:nvCxnSpPr>
          <p:cNvPr id="192" name="Google Shape;192;p3">
            <a:extLst>
              <a:ext uri="{FF2B5EF4-FFF2-40B4-BE49-F238E27FC236}">
                <a16:creationId xmlns:a16="http://schemas.microsoft.com/office/drawing/2014/main" id="{84BF18DB-8292-F542-316C-4C2953D8321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3101FB2-5748-9F00-11B6-7B950EA21DE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lvl="0"/>
            <a:r>
              <a:rPr lang="pl-PL" sz="2400" b="1" dirty="0">
                <a:solidFill>
                  <a:schemeClr val="dk1"/>
                </a:solidFill>
              </a:rPr>
              <a:t>DQN learning </a:t>
            </a:r>
            <a:r>
              <a:rPr lang="pl-PL" sz="2400" b="1" dirty="0" err="1">
                <a:solidFill>
                  <a:schemeClr val="dk1"/>
                </a:solidFill>
              </a:rPr>
              <a:t>curve</a:t>
            </a:r>
            <a:endParaRPr lang="pl-PL" sz="2400" dirty="0"/>
          </a:p>
        </p:txBody>
      </p:sp>
      <p:pic>
        <p:nvPicPr>
          <p:cNvPr id="2" name="Picture 1">
            <a:extLst>
              <a:ext uri="{FF2B5EF4-FFF2-40B4-BE49-F238E27FC236}">
                <a16:creationId xmlns:a16="http://schemas.microsoft.com/office/drawing/2014/main" id="{E7FC7039-5EDE-403C-B819-36A0B7F176BC}"/>
              </a:ext>
            </a:extLst>
          </p:cNvPr>
          <p:cNvPicPr>
            <a:picLocks noChangeAspect="1"/>
          </p:cNvPicPr>
          <p:nvPr/>
        </p:nvPicPr>
        <p:blipFill>
          <a:blip r:embed="rId4"/>
          <a:stretch>
            <a:fillRect/>
          </a:stretch>
        </p:blipFill>
        <p:spPr>
          <a:xfrm>
            <a:off x="1524750" y="2265158"/>
            <a:ext cx="7187086" cy="3577986"/>
          </a:xfrm>
          <a:prstGeom prst="rect">
            <a:avLst/>
          </a:prstGeom>
        </p:spPr>
      </p:pic>
      <p:sp>
        <p:nvSpPr>
          <p:cNvPr id="3" name="TextBox 2">
            <a:extLst>
              <a:ext uri="{FF2B5EF4-FFF2-40B4-BE49-F238E27FC236}">
                <a16:creationId xmlns:a16="http://schemas.microsoft.com/office/drawing/2014/main" id="{2E138B61-067A-EFF3-A36C-DEB20F77C77C}"/>
              </a:ext>
            </a:extLst>
          </p:cNvPr>
          <p:cNvSpPr txBox="1"/>
          <p:nvPr/>
        </p:nvSpPr>
        <p:spPr>
          <a:xfrm>
            <a:off x="1524750" y="1389378"/>
            <a:ext cx="7377341" cy="584775"/>
          </a:xfrm>
          <a:prstGeom prst="rect">
            <a:avLst/>
          </a:prstGeom>
          <a:noFill/>
        </p:spPr>
        <p:txBody>
          <a:bodyPr wrap="none" rtlCol="0">
            <a:spAutoFit/>
          </a:bodyPr>
          <a:lstStyle/>
          <a:p>
            <a:r>
              <a:rPr lang="en-US" sz="1600" dirty="0">
                <a:latin typeface="Calibri" panose="020F0502020204030204" pitchFamily="34" charset="0"/>
                <a:cs typeface="Calibri" panose="020F0502020204030204" pitchFamily="34" charset="0"/>
              </a:rPr>
              <a:t>All reward variants converge to near‑optimal returns. Enhanced and modified‑penalty </a:t>
            </a:r>
          </a:p>
          <a:p>
            <a:r>
              <a:rPr lang="en-US" sz="1600" dirty="0">
                <a:latin typeface="Calibri" panose="020F0502020204030204" pitchFamily="34" charset="0"/>
                <a:cs typeface="Calibri" panose="020F0502020204030204" pitchFamily="34" charset="0"/>
              </a:rPr>
              <a:t>rise fastest, while default converges a bit slower.</a:t>
            </a:r>
          </a:p>
        </p:txBody>
      </p:sp>
    </p:spTree>
    <p:extLst>
      <p:ext uri="{BB962C8B-B14F-4D97-AF65-F5344CB8AC3E}">
        <p14:creationId xmlns:p14="http://schemas.microsoft.com/office/powerpoint/2010/main" val="2773220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66FA92A6-4421-A257-FF0D-6AA74B133E92}"/>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C97527BA-F795-F2FC-B94A-ADFD4C5194B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F4BDEEF-5211-3279-85FB-BEDB5E3FAF58}"/>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0724E5B7-CD63-9B6D-9C16-726A34A3A27F}"/>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B162BED8-78C1-01E4-6837-D1EFFE8BDAE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B05A94D-DA51-58FF-52EE-5CB4D503327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5EBF044D-9470-14BD-DBE6-6537FFCABF42}"/>
              </a:ext>
            </a:extLst>
          </p:cNvPr>
          <p:cNvSpPr txBox="1"/>
          <p:nvPr/>
        </p:nvSpPr>
        <p:spPr>
          <a:xfrm>
            <a:off x="576527" y="6042029"/>
            <a:ext cx="39299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32</a:t>
            </a:r>
            <a:endParaRPr dirty="0"/>
          </a:p>
        </p:txBody>
      </p:sp>
      <p:cxnSp>
        <p:nvCxnSpPr>
          <p:cNvPr id="192" name="Google Shape;192;p3">
            <a:extLst>
              <a:ext uri="{FF2B5EF4-FFF2-40B4-BE49-F238E27FC236}">
                <a16:creationId xmlns:a16="http://schemas.microsoft.com/office/drawing/2014/main" id="{3840623D-F7E9-0086-4771-0B54524935B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A9BEB969-D835-73DC-7C1E-1A9F37E30183}"/>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PPO </a:t>
            </a:r>
            <a:r>
              <a:rPr lang="pl-PL" sz="2400" b="1" dirty="0" err="1">
                <a:solidFill>
                  <a:schemeClr val="dk1"/>
                </a:solidFill>
              </a:rPr>
              <a:t>rewards</a:t>
            </a:r>
            <a:r>
              <a:rPr lang="pl-PL" sz="2400" b="1" dirty="0">
                <a:solidFill>
                  <a:schemeClr val="dk1"/>
                </a:solidFill>
              </a:rPr>
              <a:t> </a:t>
            </a:r>
            <a:r>
              <a:rPr lang="pl-PL" sz="2400" b="1" dirty="0" err="1">
                <a:solidFill>
                  <a:schemeClr val="dk1"/>
                </a:solidFill>
              </a:rPr>
              <a:t>compared</a:t>
            </a:r>
            <a:endParaRPr dirty="0"/>
          </a:p>
        </p:txBody>
      </p:sp>
      <p:pic>
        <p:nvPicPr>
          <p:cNvPr id="4" name="Picture 3">
            <a:extLst>
              <a:ext uri="{FF2B5EF4-FFF2-40B4-BE49-F238E27FC236}">
                <a16:creationId xmlns:a16="http://schemas.microsoft.com/office/drawing/2014/main" id="{78B0BCB8-B58E-4D67-0C1E-B3651CA8C4A5}"/>
              </a:ext>
            </a:extLst>
          </p:cNvPr>
          <p:cNvPicPr>
            <a:picLocks noChangeAspect="1"/>
          </p:cNvPicPr>
          <p:nvPr/>
        </p:nvPicPr>
        <p:blipFill>
          <a:blip r:embed="rId4"/>
          <a:stretch>
            <a:fillRect/>
          </a:stretch>
        </p:blipFill>
        <p:spPr>
          <a:xfrm>
            <a:off x="1524750" y="3461436"/>
            <a:ext cx="7258722" cy="2255225"/>
          </a:xfrm>
          <a:prstGeom prst="rect">
            <a:avLst/>
          </a:prstGeom>
        </p:spPr>
      </p:pic>
      <p:sp>
        <p:nvSpPr>
          <p:cNvPr id="6" name="TextBox 5">
            <a:extLst>
              <a:ext uri="{FF2B5EF4-FFF2-40B4-BE49-F238E27FC236}">
                <a16:creationId xmlns:a16="http://schemas.microsoft.com/office/drawing/2014/main" id="{669ED812-F5A2-08E1-D677-DBEE3095CE5E}"/>
              </a:ext>
            </a:extLst>
          </p:cNvPr>
          <p:cNvSpPr txBox="1"/>
          <p:nvPr/>
        </p:nvSpPr>
        <p:spPr>
          <a:xfrm>
            <a:off x="1524750" y="1515371"/>
            <a:ext cx="6569427" cy="1569660"/>
          </a:xfrm>
          <a:prstGeom prst="rect">
            <a:avLst/>
          </a:prstGeom>
          <a:noFill/>
        </p:spPr>
        <p:txBody>
          <a:bodyPr wrap="none" rtlCol="0">
            <a:spAutoFit/>
          </a:bodyPr>
          <a:lstStyle/>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PPO hits 100% success for default, distance‑based, and modified‑penalty.</a:t>
            </a: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Enhanced reward drops to ~91% success and has longer episodes (~30), </a:t>
            </a:r>
            <a:br>
              <a:rPr lang="en-GB" sz="1600" dirty="0">
                <a:latin typeface="Calibri" panose="020F0502020204030204" pitchFamily="34" charset="0"/>
                <a:cs typeface="Calibri" panose="020F0502020204030204" pitchFamily="34" charset="0"/>
              </a:rPr>
            </a:br>
            <a:r>
              <a:rPr lang="en-GB" sz="1600" dirty="0">
                <a:latin typeface="Calibri" panose="020F0502020204030204" pitchFamily="34" charset="0"/>
                <a:cs typeface="Calibri" panose="020F0502020204030204" pitchFamily="34" charset="0"/>
              </a:rPr>
              <a:t>indicating the shaping pushes behaviour that doesn’t fully transfer </a:t>
            </a:r>
            <a:br>
              <a:rPr lang="en-GB" sz="1600" dirty="0">
                <a:latin typeface="Calibri" panose="020F0502020204030204" pitchFamily="34" charset="0"/>
                <a:cs typeface="Calibri" panose="020F0502020204030204" pitchFamily="34" charset="0"/>
              </a:rPr>
            </a:br>
            <a:r>
              <a:rPr lang="en-GB" sz="1600" dirty="0">
                <a:latin typeface="Calibri" panose="020F0502020204030204" pitchFamily="34" charset="0"/>
                <a:cs typeface="Calibri" panose="020F0502020204030204" pitchFamily="34" charset="0"/>
              </a:rPr>
              <a:t>to default reward.</a:t>
            </a: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Modified‑penalty gives the best shaped reward </a:t>
            </a:r>
            <a:br>
              <a:rPr lang="en-GB" sz="1600" dirty="0">
                <a:latin typeface="Calibri" panose="020F0502020204030204" pitchFamily="34" charset="0"/>
                <a:cs typeface="Calibri" panose="020F0502020204030204" pitchFamily="34" charset="0"/>
              </a:rPr>
            </a:br>
            <a:r>
              <a:rPr lang="en-GB" sz="1600" dirty="0">
                <a:latin typeface="Calibri" panose="020F0502020204030204" pitchFamily="34" charset="0"/>
                <a:cs typeface="Calibri" panose="020F0502020204030204" pitchFamily="34" charset="0"/>
              </a:rPr>
              <a:t>without sacrificing default performance.</a:t>
            </a:r>
          </a:p>
        </p:txBody>
      </p:sp>
    </p:spTree>
    <p:extLst>
      <p:ext uri="{BB962C8B-B14F-4D97-AF65-F5344CB8AC3E}">
        <p14:creationId xmlns:p14="http://schemas.microsoft.com/office/powerpoint/2010/main" val="3106809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B45A879-A960-AB98-DAF2-0DC33F3F43C1}"/>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F9570A2D-392D-3D27-653B-76F25E190276}"/>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EA5BCC98-4A05-4572-0CA0-3A26B17FE48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1312E9C1-4EC7-6DE5-E205-BA2E05ACAC77}"/>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72DB59A-C17D-805B-2C93-D3091D0F9D84}"/>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1970E6F2-73B9-68EE-BA33-91CD937D34D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3B29F19B-85CB-1C60-F539-73D85CE69736}"/>
              </a:ext>
            </a:extLst>
          </p:cNvPr>
          <p:cNvSpPr txBox="1"/>
          <p:nvPr/>
        </p:nvSpPr>
        <p:spPr>
          <a:xfrm>
            <a:off x="576527" y="6042029"/>
            <a:ext cx="39298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33</a:t>
            </a:r>
            <a:endParaRPr dirty="0"/>
          </a:p>
        </p:txBody>
      </p:sp>
      <p:cxnSp>
        <p:nvCxnSpPr>
          <p:cNvPr id="192" name="Google Shape;192;p3">
            <a:extLst>
              <a:ext uri="{FF2B5EF4-FFF2-40B4-BE49-F238E27FC236}">
                <a16:creationId xmlns:a16="http://schemas.microsoft.com/office/drawing/2014/main" id="{B4F00178-C222-80EC-CB15-53A9FB25106A}"/>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DE4B709-71B3-66C4-13E3-5C90468D3CA5}"/>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lvl="0"/>
            <a:r>
              <a:rPr lang="pl-PL" sz="2400" b="1" dirty="0">
                <a:solidFill>
                  <a:schemeClr val="dk1"/>
                </a:solidFill>
              </a:rPr>
              <a:t>DQN </a:t>
            </a:r>
            <a:r>
              <a:rPr lang="pl-PL" sz="2400" b="1" dirty="0" err="1">
                <a:solidFill>
                  <a:schemeClr val="dk1"/>
                </a:solidFill>
              </a:rPr>
              <a:t>rewards</a:t>
            </a:r>
            <a:r>
              <a:rPr lang="pl-PL" sz="2400" b="1" dirty="0">
                <a:solidFill>
                  <a:schemeClr val="dk1"/>
                </a:solidFill>
              </a:rPr>
              <a:t> </a:t>
            </a:r>
            <a:r>
              <a:rPr lang="pl-PL" sz="2400" b="1" dirty="0" err="1">
                <a:solidFill>
                  <a:schemeClr val="dk1"/>
                </a:solidFill>
              </a:rPr>
              <a:t>compared</a:t>
            </a:r>
            <a:endParaRPr lang="pl-PL" sz="2400" dirty="0"/>
          </a:p>
        </p:txBody>
      </p:sp>
      <p:pic>
        <p:nvPicPr>
          <p:cNvPr id="4" name="Picture 3">
            <a:extLst>
              <a:ext uri="{FF2B5EF4-FFF2-40B4-BE49-F238E27FC236}">
                <a16:creationId xmlns:a16="http://schemas.microsoft.com/office/drawing/2014/main" id="{8DCE70AC-80B2-0141-0ECB-554742E5C52E}"/>
              </a:ext>
            </a:extLst>
          </p:cNvPr>
          <p:cNvPicPr>
            <a:picLocks noChangeAspect="1"/>
          </p:cNvPicPr>
          <p:nvPr/>
        </p:nvPicPr>
        <p:blipFill>
          <a:blip r:embed="rId4"/>
          <a:stretch>
            <a:fillRect/>
          </a:stretch>
        </p:blipFill>
        <p:spPr>
          <a:xfrm>
            <a:off x="1406169" y="3478309"/>
            <a:ext cx="7377304" cy="2292068"/>
          </a:xfrm>
          <a:prstGeom prst="rect">
            <a:avLst/>
          </a:prstGeom>
        </p:spPr>
      </p:pic>
      <p:sp>
        <p:nvSpPr>
          <p:cNvPr id="5" name="TextBox 4">
            <a:extLst>
              <a:ext uri="{FF2B5EF4-FFF2-40B4-BE49-F238E27FC236}">
                <a16:creationId xmlns:a16="http://schemas.microsoft.com/office/drawing/2014/main" id="{286C0CA8-E9F2-32AB-978D-A3D811BAE27A}"/>
              </a:ext>
            </a:extLst>
          </p:cNvPr>
          <p:cNvSpPr txBox="1"/>
          <p:nvPr/>
        </p:nvSpPr>
        <p:spPr>
          <a:xfrm>
            <a:off x="1524750" y="1515371"/>
            <a:ext cx="7200000" cy="1323439"/>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DQN achieves 100% success across all reward functions.</a:t>
            </a: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Episode length is stable (~13 steps), so all rewards produce similarly efficient policies under default reward.</a:t>
            </a:r>
          </a:p>
          <a:p>
            <a:pPr marL="285750" indent="-285750">
              <a:buFont typeface="Arial" panose="020B0604020202020204" pitchFamily="34" charset="0"/>
              <a:buChar char="•"/>
            </a:pPr>
            <a:r>
              <a:rPr lang="en-GB" sz="1600" dirty="0">
                <a:latin typeface="Calibri" panose="020F0502020204030204" pitchFamily="34" charset="0"/>
                <a:cs typeface="Calibri" panose="020F0502020204030204" pitchFamily="34" charset="0"/>
              </a:rPr>
              <a:t>Enhanced reward yields the highest shaped reward but doesn’t hurt default performance.</a:t>
            </a:r>
          </a:p>
        </p:txBody>
      </p:sp>
    </p:spTree>
    <p:extLst>
      <p:ext uri="{BB962C8B-B14F-4D97-AF65-F5344CB8AC3E}">
        <p14:creationId xmlns:p14="http://schemas.microsoft.com/office/powerpoint/2010/main" val="1721942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6E8C3CC-9A30-5A9C-D2BE-F05214D4220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BF4588D-BB1E-9B94-21E6-331F97BD01B2}"/>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6C89E4C-A2F4-2CDA-E73D-879196B6FA0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661AEF2F-3FF7-D7DC-5E21-69267F48EB6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54DA051-0696-1832-B885-01175CF655A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C6EC9C3-C8F1-5615-5A86-C3A2E591F29D}"/>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3B955F32-3D39-9FA0-98F1-3479C0FFA926}"/>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34</a:t>
            </a:r>
            <a:endParaRPr dirty="0"/>
          </a:p>
        </p:txBody>
      </p:sp>
      <p:cxnSp>
        <p:nvCxnSpPr>
          <p:cNvPr id="192" name="Google Shape;192;p3">
            <a:extLst>
              <a:ext uri="{FF2B5EF4-FFF2-40B4-BE49-F238E27FC236}">
                <a16:creationId xmlns:a16="http://schemas.microsoft.com/office/drawing/2014/main" id="{3448E4EE-A8F9-4BF1-9096-935FC6FECED3}"/>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1DB1B50-3188-158B-18D8-B0BFF85D99A3}"/>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 - </a:t>
            </a:r>
            <a:r>
              <a:rPr lang="pl-PL" sz="2400" b="1" dirty="0" err="1">
                <a:solidFill>
                  <a:schemeClr val="dk1"/>
                </a:solidFill>
              </a:rPr>
              <a:t>results</a:t>
            </a:r>
            <a:endParaRPr dirty="0"/>
          </a:p>
        </p:txBody>
      </p:sp>
      <p:sp>
        <p:nvSpPr>
          <p:cNvPr id="2" name="Google Shape;210;p4">
            <a:extLst>
              <a:ext uri="{FF2B5EF4-FFF2-40B4-BE49-F238E27FC236}">
                <a16:creationId xmlns:a16="http://schemas.microsoft.com/office/drawing/2014/main" id="{3E1D08D1-776A-EEC3-6474-70B1D7B30C5A}"/>
              </a:ext>
            </a:extLst>
          </p:cNvPr>
          <p:cNvSpPr txBox="1"/>
          <p:nvPr/>
        </p:nvSpPr>
        <p:spPr>
          <a:xfrm>
            <a:off x="1524750" y="1289767"/>
            <a:ext cx="7199983" cy="1569620"/>
          </a:xfrm>
          <a:prstGeom prst="rect">
            <a:avLst/>
          </a:prstGeom>
          <a:noFill/>
          <a:ln>
            <a:noFill/>
          </a:ln>
        </p:spPr>
        <p:txBody>
          <a:bodyPr spcFirstLastPara="1" wrap="square" lIns="91425" tIns="45700" rIns="91425" bIns="45700" anchor="t" anchorCtr="0">
            <a:spAutoFit/>
          </a:bodyPr>
          <a:lstStyle/>
          <a:p>
            <a:pPr>
              <a:lnSpc>
                <a:spcPct val="150000"/>
              </a:lnSpc>
            </a:pPr>
            <a:r>
              <a:rPr lang="en-US" sz="1600" dirty="0">
                <a:latin typeface="Calibri" panose="020F0502020204030204" pitchFamily="34" charset="0"/>
                <a:cs typeface="Calibri" panose="020F0502020204030204" pitchFamily="34" charset="0"/>
              </a:rPr>
              <a:t>Videos can be played from </a:t>
            </a:r>
            <a:r>
              <a:rPr lang="en-US" sz="1600" i="1" dirty="0">
                <a:latin typeface="Calibri" panose="020F0502020204030204" pitchFamily="34" charset="0"/>
                <a:cs typeface="Calibri" panose="020F0502020204030204" pitchFamily="34" charset="0"/>
              </a:rPr>
              <a:t>/results/renders</a:t>
            </a:r>
            <a:r>
              <a:rPr lang="en-US" sz="1600" dirty="0">
                <a:latin typeface="Calibri" panose="020F0502020204030204" pitchFamily="34" charset="0"/>
                <a:cs typeface="Calibri" panose="020F0502020204030204" pitchFamily="34" charset="0"/>
              </a:rPr>
              <a:t>. There are 3 main categories:</a:t>
            </a: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Example random run.</a:t>
            </a: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PPO and DQN baselines.</a:t>
            </a: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PPO and DQN different trained rewards.</a:t>
            </a:r>
          </a:p>
        </p:txBody>
      </p:sp>
    </p:spTree>
    <p:extLst>
      <p:ext uri="{BB962C8B-B14F-4D97-AF65-F5344CB8AC3E}">
        <p14:creationId xmlns:p14="http://schemas.microsoft.com/office/powerpoint/2010/main" val="1893194072"/>
      </p:ext>
    </p:extLst>
  </p:cSld>
  <p:clrMapOvr>
    <a:masterClrMapping/>
  </p:clrMapOvr>
</p:sld>
</file>

<file path=ppt/theme/theme1.xml><?xml version="1.0" encoding="utf-8"?>
<a:theme xmlns:a="http://schemas.openxmlformats.org/drawingml/2006/main" name="wne2">
  <a:themeElements>
    <a:clrScheme name="Pakiet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yw pakietu Office">
  <a:themeElements>
    <a:clrScheme name="Motyw pakietu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3855</TotalTime>
  <Words>2674</Words>
  <Application>Microsoft Macintosh PowerPoint</Application>
  <PresentationFormat>On-screen Show (4:3)</PresentationFormat>
  <Paragraphs>394</Paragraphs>
  <Slides>34</Slides>
  <Notes>34</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34</vt:i4>
      </vt:variant>
    </vt:vector>
  </HeadingPairs>
  <TitlesOfParts>
    <vt:vector size="40" baseType="lpstr">
      <vt:lpstr>Aptos Narrow</vt:lpstr>
      <vt:lpstr>Arial</vt:lpstr>
      <vt:lpstr>Calibri</vt:lpstr>
      <vt:lpstr>Wingdings</vt:lpstr>
      <vt:lpstr>wne2</vt:lpstr>
      <vt:lpstr>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Piotr R</dc:creator>
  <cp:lastModifiedBy>Zernaczuk, Andrzej /FR/EXT</cp:lastModifiedBy>
  <cp:revision>25</cp:revision>
  <dcterms:created xsi:type="dcterms:W3CDTF">2021-11-01T17:37:41Z</dcterms:created>
  <dcterms:modified xsi:type="dcterms:W3CDTF">2026-02-08T23:15:47Z</dcterms:modified>
</cp:coreProperties>
</file>